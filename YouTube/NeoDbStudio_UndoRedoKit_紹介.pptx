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こんにちは。オリオンシステムズの梅澤です。今日は、私が個人開発したデータベース管理ツール「NeoDB Studio」を紹介したいと思います。あわせて、その開発の中で作った汎用ライブラリ「UndoRedoKit」もちょっとだけ紹介しますので、最後まで見ていただけると嬉しいです。どちらも完全にオープンソースで、MITライセンスで無料で公開しています。それではさっそく始め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NeoDB Studioを作ったきっかけからお話しします。私は個人事業主として、介護施設向けの業務システムとか、介護タクシーの配車予約システムとか、そういった業務系のWebシステムを一人で開発しているんですね。そうすると案件によって使うデータベースがバラバラになるんですよ。あるプロジェクトはMySQL、あるプロジェクトはPostgreSQL、テスト用にSQLiteも触るし、たまにSQL ServerやOracleが出てくることもある。そのたびに違うクライアントツールを開いたり、有料版の機能制限に引っかかったりするのが本当に面倒で。だったら自分が欲しい機能を全部詰め込んだツールを、自分で作ってしまおうと。これがNeoDB Studioの始まりです。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のツールを使っていて感じていた不満は主に4つありました。まず、DBMSごとにツールが分かれていること。MySQL用のツール、PostgreSQL用のツール、Oracle用のツールを行ったり来たりするのは非効率です。次に、ER図。テーブル数が多いスキーマだと、1枚の図に全部描画されてしまって、結局拡大しないと読めない。3つ目は資料化です。スキーマの一覧やカラム定義をExcelにまとめる作業を、毎回手作業でやっていました。そして4つ目、接続情報の管理。パスワードが入った接続文字列を、平文のプロジェクトファイルで持ち歩くのはセキュリティ的にずっと気になっていました。この4つを全部解決するために作ったのがNeoDB Studioです。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一言でまとめると、NeoDB Studioは「8種類のデータベースに、ひとつの画面で接続できる、Windowsデスクトップ向けの統合データベース管理ツール」です。テーブルの閲覧や編集はもちろん、ER図の自動生成、Excelへのスキーマ出力、SQLエディタでの実行やクエリ履歴の管理まで、DB管理者やアプリ開発者が日常的にやる作業を、これ一本でカバーすることを目指しています。対応DBMS数は8種類、ライセンスはMIT、利用料金はゼロ円です。ソースコードも全部公開しているので、気になる実装があれば直接読むことも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対応しているDBMSは全部で8種類です。リレーショナル系はMySQL、MariaDB、PostgreSQL、SQL Server、Oracle、そして組み込み用のSQLiteの6つ。それに加えて、ドキュメント指向のMongoDB、インメモリKVSのRedisにも対応しています。それぞれ方言というか、SQLの細かい違いや、トランザクションの扱い方、ページングの書き方なんかが微妙に違うんですが、それを全部NeoDB Studio側で吸収して、同じ操作感で使えるようにしています。ちなみにDockerサンドボックスにはCassandraとClickHouseのコンテナも用意してあるんですが、まだ接続実装が追いついていなくて、これは今後の課題です。正直に言ってお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アーキテクチャはシンプルな3層構成です。ユーザーが直接触るのはWPFで作ったデスクトップクライアント。これが起動すると、裏でASP.NET CoreのAPIプロセスを子プロセスとして自動的に立ち上げます。クライアントとAPIの間はgRPCで通信していて、実際にMySQLやPostgreSQLに接続してSQLを投げるのはAPI側の役割です。こうすることで、クライアント側はDBMSごとの違いを一切気にしなくてよくなります。ER図の自動レイアウトにはMicrosoft製のMSAGLというライブラリ、Excel出力にはClosedXML、プロジェクトファイルの暗号化にはWindows標準のDPAPIを使っています。車輪の再発明はせず、実績のあるライブラリの上に必要な機能を組み立てる、という方針で作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実際の機能を、画面のイメージを交えながらデモ形式で紹介していきます。まずは基本の接続とスキーマ閲覧から。接続プロファイルを作成するとき、SSHトンネル経由での接続にも対応しているので、本番サーバーに直接ポートを開けなくても安全に接続できます。接続すると、選択したデータベースのテーブル、ビュー、ストアドプロシージャなどをスキーマとして自動取得して、ツリー形式で表示します。ここで地味に大事なのが、接続情報の保存方法です。プロジェクトファイルの拡張子は.neodbなんですが、中身はJSONの平文ではなく、WindowsのDPAPIという仕組みでファイル全体を暗号化しています。DPAPIは今ログインしているWindowsユーザーの鍵を使うので、ファイルだけコピーして別のマシンに持って行っても復号できません。これで接続情報の管理不安をかなり解消できたと思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デモはER図です。これは実装していて一番苦労した機能でもあります。MSAGLというMicrosoft製のグラフレイアウトライブラリを使って、外部キーの関係からテーブルの重なりがない綺麗な図を自動生成します。開発初期に大規模な実データベースで試したとき、320テーブルが1枚の図にぎゅうぎゅうに描画されて、結局拡大しないと何も読めないという問題にぶつかりました。そこで、スキーマ単位で表示を分割できるようにして、さらに見たいテーブルだけをチェックボックスで絞り込んで再描画できるようにしました。完成した図はPNG画像としてエクスポートできるので、設計書や提案資料にそのまま貼り付けて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目はExcelへのスキーマエクスポート機能です。これは実際にユーザーの方から「テーブル単位でシートを分けてほしい」「接続情報や外部キー関係も見たい」という要望をいただいて、仕様を2回作り直しました。最終的な構成は、まず接続情報シート。プロジェクト名やスキーマ名、接続文字列を出力しますが、パスワード部分はちゃんと伏字にしています。次にテーブル、ビュー、ストアドプロシージャ・関数、それぞれの一覧シート。そして外部キー関係シートは、選択したスキーマ内のFKだけに絞り込んでいます。最後に、テーブルごとに1シートずつ、シート名をテーブル名にして、カラム定義とインデックス情報を出力します。実際に320テーブルの本番相当データベースでエクスポートして、90シートがすべて正しく出力されることを確認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目はSQLエディタまわりです。まず入力補完。文字を打ち始めると、SQLキーワードに加えて、今接続しているスキーマの実際のテーブル名やカラム名を候補として出します。次にサーバー側ページング。大きなテーブルを全件SELECTすると、以前はクライアント側に全部読み込んでからページングしていたんですが、これをLIMIT・OFFSET相当のSQLをDBMSごとの方言に合わせて自動生成する方式に変えました。実行計画ビューアは、EXPLAINやEXPLAIN PLANをワンクリックで実行して結果を表示する機能で、MySQL・PostgreSQL・SQLite・Oracleなど5つの方言に対応しています。そして実行したクエリは自動的に履歴として保存されて、しかも暗号化されているので、アプリを再起動しても過去のクエリを遡って呼び出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つ目は、結果グリッドの編集とBLOB・CLOBビューアです。まずインライン編集。SELECTした結果グリッドのセルを直接ダブルクリックして書き換えると、変更前と変更後の差分と主キーの情報から、裏側で自動的にUPDATE文を組み立てて実行します。JOINを含むような複雑なクエリは、安全のため編集対象から外しています。もう一つがBLOBとCLOBのビューアです。これは実装してから気づいた話なんですが、もともとバイナリ列はSystem.Byte[]という文字列に化けてしまって、実データが失われるバグがありました。これを直したうえで、画像データならプレビュー表示、それ以外のバイナリなら16進ダンプ、テキストならそのまま表示するビューアを作りました。実際に本物のPNG画像をBLOB列に入れて、取り出したバイト列が完全に一致することまで確認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つ目はスキーマ比較と差分同期スクリプトの生成です。現在接続しているソース環境と、任意のターゲット接続を比較して、テーブルの追加・削除や、カラムの型変更を検出します。差分が見つかったら、その差分を埋めるためのALTER TABLE文を、DBMSの方言に合わせて自動生成します。ここで安全面をかなり意識していて、DROP TABLEやDROP COLUMNのような破壊的な文は、必ずコメントアウトした状態で出力します。つまり生成されたスクリプトを見ながら、本当に必要な文だけをユーザー自身が選んで実行する、という設計です。実際に意図的にスキーマをずらした2つのMySQLデータベースを用意して、差分検出、スクリプト生成、実行、そして再度スキーマを取得して収束していることまで確認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紹介しきれていない機能もまだいくつかあります。インデックス管理では、オブジェクトツリーの中にテーブルのインデックスを、複合列の順序やユニーク制約も含めて表示します。SQLスニペットライブラリは、よく使うクエリに名前を付けて保存しておいて、ワンクリックでエディタに挿入できる機能です。これはロードマップの中で一番最後に実装した機能で、これでPhase3として計画していた項目がすべて完了しました。ER図編集にはUndo・Redo、コピー・ペーストも対応していて、これは次に紹介するUndoRedoKitというライブラリを使って実現しています。あとテーブル設計機能では、実際のテーブルの列構成を読み込んで、列の追加・削除・型変更を検出し、ALTER TABLE文を生成できます。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面についても少し詳しく話します。プロジェクトファイル、クエリ履歴、SQLスニペット、これら全部、Windows標準のDPAPIという仕組みでファイル全体を暗号化しています。よくある実装だと、パスワードのフィールドだけを暗号化して、それ以外は平文のJSONというパターンもあるんですが、NeoDB Studioではファイルまるごと暗号化するようにしました。DPAPIは今ログインしているWindowsユーザーのアカウントに紐づく鍵を使うので、ファイルだけをコピーして別のマシンや別のユーザーで開こうとしても復号できません。復号に失敗した場合は、黙って空のデータを返すようなことはせず、はっきりと例外を出すようにしています。ちなみに実際に自分のCareLinkやCareTransportという別プロジェクトの本番接続情報を扱う中で設計したので、実用に即した作りになっていると思います。もちろんその本番の接続情報自体は、公開リポジトリには一切含まれ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実際に手を動かして試したい方向けに、Dockerサンドボックス一式も一緒に公開しています。docker composeコマンド一発で、8種類のDBMSに加えて、将来対応予定のCassandraとClickHouseのコンテナまで立ち上がって、しかも日本語と英語が混ざったバイリンガルのサンプルデータが最初から入っています。接続用のプロジェクトファイルもリポジトリに同梱しているので、それを開けばすぐに接続できます。さらに、各DBMSでDDL、SEED投入、SELECT・UPDATE・DELETE、ストアドプロシージャや関数の作成・実行までを実際に動かせるサンプルSQLスクリプトを61本用意しました。これは全部、私が実際にサンドボックス環境に対して実行して、動くことを確認したものです。特にOracleは1回の実行で1文しか受け付けないとか、MongoDBとRedisのクエリボックスにはコメント構文が一切ないとか、方言の違いで地味にハマったポイントもREADMEにまとめて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ここからは少しおまけ的な内容として、UndoRedoKitというライブラリを紹介します。NeoDB StudioのER図編集で、Undo・Redoやコピー・ペーストを実装しようとしたとき、世の中にある既存のUndo・Redoライブラリを調べたんですが、どれもWPFの特定のコントロールに強く依存していたり、UI側の変更イベントを起点にする作りになっていて、gRPCで取得したデータモデルを直接操作するNeoDB Studioの構造とは相性が良くありませんでした。それなら、UIに一切依存しない、データモデルのオブジェクト単体で完結するUndo・Redoエンジンを自分で作ろうと考えて、これをNeoDB Studio本体からは切り離した、独立した汎用ライブラリとして公開することにしました。中核のライブラリはUI非依存で、その上にWPF用とWinForms用のアダプタを別アセンブリとして用意しています。DIコンテナへの登録にも対応していて、xUnitのテストも15件書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oRedoKitの使い方の流れを簡単に説明します。まず、Undo・Redoの対象にしたいクラスに、ライブラリが提供するModelObjectというベースクラスを継承させます。プロパティの変更はSetValueというメソッド経由で行うようにするだけです。次に、そのモデルオブジェクトをEditContextというオブジェクトに登録します。登録すると、以降そのモデルへの変更が自動的に追跡されるようになります。変更が起きるたびに、UndoManagerが差分だけを持つコマンドとして履歴に記録していきます。テキストボックスへの連続入力とか、ドラッグ操作のような細かい変更が連続する場合は、ジェスチャという単位でひとつのコマンドに融合できるので、Undoを1回押しただけで入力全体が戻ります。そして単純に1手戻す・進めるだけでなく、履歴の中の任意の地点まで一気にジャンプするJumpToという機能もあります。ほかにも複数選択やグリッドのセル編集、リストの並べ替えにも対応していて、選択状態のような、履歴に残したくない一時的な変更は記録しないという仕組みも用意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というわけで、NeoDB StudioとUndoRedoKit、2つのオープンソースプロジェクトを紹介してきました。どちらもMITライセンスで、今日から誰でも無料でダウンロードして使うことができます。リポジトリはオリオンシステムズのGitHub組織、orionsystems-jpの下に公開しています。NeoDB Studio本体のリポジトリと、UndoRedoKitのリポジトリ、それぞれURLを画面に出していますので、気になった方はぜひアクセスしてみてください。READMEにはビルド手順やDockerサンドボックスの立ち上げ方も書いてあります。もしバグを見つけたり、こんな機能が欲しいという要望があれば、Issueを立てていただいても構いませんし、直接プルリクエストを送っていただいても大歓迎です。個人開発でコツコツ作ってきたツールですが、少しでも誰かの役に立てば嬉しいです。最後まで見ていただき、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B47"/>
          </a:solidFill>
          <a:ln/>
        </p:spPr>
      </p:sp>
      <p:sp>
        <p:nvSpPr>
          <p:cNvPr id="3" name="Shape 1"/>
          <p:cNvSpPr/>
          <p:nvPr/>
        </p:nvSpPr>
        <p:spPr>
          <a:xfrm>
            <a:off x="-2286000" y="4206240"/>
            <a:ext cx="5029200" cy="5029200"/>
          </a:xfrm>
          <a:prstGeom prst="ellipse">
            <a:avLst/>
          </a:prstGeom>
          <a:solidFill>
            <a:srgbClr val="141B47"/>
          </a:solidFill>
          <a:ln/>
        </p:spPr>
      </p:sp>
      <p:sp>
        <p:nvSpPr>
          <p:cNvPr id="4" name="Shape 2"/>
          <p:cNvSpPr/>
          <p:nvPr/>
        </p:nvSpPr>
        <p:spPr>
          <a:xfrm>
            <a:off x="822960" y="777240"/>
            <a:ext cx="822960" cy="822960"/>
          </a:xfrm>
          <a:prstGeom prst="ellipse">
            <a:avLst/>
          </a:prstGeom>
          <a:solidFill>
            <a:srgbClr val="CADCFC"/>
          </a:solidFill>
          <a:ln/>
        </p:spPr>
      </p:sp>
      <p:pic>
        <p:nvPicPr>
          <p:cNvPr id="5" name="Image 0" descr="preencoded.png">    </p:cNvPr>
          <p:cNvPicPr>
            <a:picLocks noChangeAspect="1"/>
          </p:cNvPicPr>
          <p:nvPr/>
        </p:nvPicPr>
        <p:blipFill>
          <a:blip r:embed="rId1"/>
          <a:stretch>
            <a:fillRect/>
          </a:stretch>
        </p:blipFill>
        <p:spPr>
          <a:xfrm>
            <a:off x="929945" y="884225"/>
            <a:ext cx="608990" cy="608990"/>
          </a:xfrm>
          <a:prstGeom prst="rect">
            <a:avLst/>
          </a:prstGeom>
        </p:spPr>
      </p:pic>
      <p:sp>
        <p:nvSpPr>
          <p:cNvPr id="6" name="Text 3"/>
          <p:cNvSpPr/>
          <p:nvPr/>
        </p:nvSpPr>
        <p:spPr>
          <a:xfrm>
            <a:off x="1828800" y="822960"/>
            <a:ext cx="7315200" cy="457200"/>
          </a:xfrm>
          <a:prstGeom prst="rect">
            <a:avLst/>
          </a:prstGeom>
          <a:noFill/>
          <a:ln/>
        </p:spPr>
        <p:txBody>
          <a:bodyPr wrap="square" rtlCol="0" anchor="ctr"/>
          <a:lstStyle/>
          <a:p>
            <a:pPr indent="0" marL="0">
              <a:buNone/>
            </a:pPr>
            <a:r>
              <a:rPr lang="en-US" sz="1500" b="1" spc="200" kern="0" dirty="0">
                <a:solidFill>
                  <a:srgbClr val="CADCFC"/>
                </a:solidFill>
                <a:latin typeface="Calibri" pitchFamily="34" charset="0"/>
                <a:ea typeface="Calibri" pitchFamily="34" charset="-122"/>
                <a:cs typeface="Calibri" pitchFamily="34" charset="-120"/>
              </a:rPr>
              <a:t>オリオンシステムズ　OrionSystems</a:t>
            </a:r>
            <a:endParaRPr lang="en-US" sz="1500" dirty="0"/>
          </a:p>
        </p:txBody>
      </p:sp>
      <p:sp>
        <p:nvSpPr>
          <p:cNvPr id="7" name="Text 4"/>
          <p:cNvSpPr/>
          <p:nvPr/>
        </p:nvSpPr>
        <p:spPr>
          <a:xfrm>
            <a:off x="822960" y="2286000"/>
            <a:ext cx="10515600" cy="137160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NeoDB Studio</a:t>
            </a:r>
            <a:endParaRPr lang="en-US" sz="6000" dirty="0"/>
          </a:p>
        </p:txBody>
      </p:sp>
      <p:sp>
        <p:nvSpPr>
          <p:cNvPr id="8" name="Text 5"/>
          <p:cNvSpPr/>
          <p:nvPr/>
        </p:nvSpPr>
        <p:spPr>
          <a:xfrm>
            <a:off x="868680" y="3520440"/>
            <a:ext cx="10058400" cy="64008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8種類のDBMSを、ひとつの画面で。オープンソースのデータベース管理ツール</a:t>
            </a:r>
            <a:endParaRPr lang="en-US" sz="2000" dirty="0"/>
          </a:p>
        </p:txBody>
      </p:sp>
      <p:sp>
        <p:nvSpPr>
          <p:cNvPr id="9" name="Shape 6"/>
          <p:cNvSpPr/>
          <p:nvPr/>
        </p:nvSpPr>
        <p:spPr>
          <a:xfrm>
            <a:off x="868680" y="4343400"/>
            <a:ext cx="2926080" cy="0"/>
          </a:xfrm>
          <a:prstGeom prst="line">
            <a:avLst/>
          </a:prstGeom>
          <a:noFill/>
          <a:ln w="19050">
            <a:solidFill>
              <a:srgbClr val="CADCFC"/>
            </a:solidFill>
            <a:prstDash val="solid"/>
          </a:ln>
        </p:spPr>
      </p:sp>
      <p:sp>
        <p:nvSpPr>
          <p:cNvPr id="10" name="Text 7"/>
          <p:cNvSpPr/>
          <p:nvPr/>
        </p:nvSpPr>
        <p:spPr>
          <a:xfrm>
            <a:off x="868680" y="4572000"/>
            <a:ext cx="8229600" cy="365760"/>
          </a:xfrm>
          <a:prstGeom prst="rect">
            <a:avLst/>
          </a:prstGeom>
          <a:noFill/>
          <a:ln/>
        </p:spPr>
        <p:txBody>
          <a:bodyPr wrap="square" rtlCol="0" anchor="ctr"/>
          <a:lstStyle/>
          <a:p>
            <a:pPr indent="0" marL="0">
              <a:buNone/>
            </a:pPr>
            <a:r>
              <a:rPr lang="en-US" sz="1400" i="1" dirty="0">
                <a:solidFill>
                  <a:srgbClr val="8E9BD9"/>
                </a:solidFill>
                <a:latin typeface="Calibri" pitchFamily="34" charset="0"/>
                <a:ea typeface="Calibri" pitchFamily="34" charset="-122"/>
                <a:cs typeface="Calibri" pitchFamily="34" charset="-120"/>
              </a:rPr>
              <a:t>あわせて汎用ライブラリ UndoRedoKit もご紹介します</a:t>
            </a:r>
            <a:endParaRPr lang="en-US" sz="1400" dirty="0"/>
          </a:p>
        </p:txBody>
      </p:sp>
      <p:sp>
        <p:nvSpPr>
          <p:cNvPr id="11" name="Text 8"/>
          <p:cNvSpPr/>
          <p:nvPr/>
        </p:nvSpPr>
        <p:spPr>
          <a:xfrm>
            <a:off x="868680" y="6080760"/>
            <a:ext cx="5486400" cy="365760"/>
          </a:xfrm>
          <a:prstGeom prst="rect">
            <a:avLst/>
          </a:prstGeom>
          <a:noFill/>
          <a:ln/>
        </p:spPr>
        <p:txBody>
          <a:bodyPr wrap="square"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github.com/orionsystems-jp</a:t>
            </a:r>
            <a:endParaRPr lang="en-US" sz="1400" dirty="0"/>
          </a:p>
        </p:txBody>
      </p:sp>
      <p:sp>
        <p:nvSpPr>
          <p:cNvPr id="12" name="Text 9"/>
          <p:cNvSpPr/>
          <p:nvPr/>
        </p:nvSpPr>
        <p:spPr>
          <a:xfrm>
            <a:off x="868680" y="6400800"/>
            <a:ext cx="5486400" cy="320040"/>
          </a:xfrm>
          <a:prstGeom prst="rect">
            <a:avLst/>
          </a:prstGeom>
          <a:noFill/>
          <a:ln/>
        </p:spPr>
        <p:txBody>
          <a:bodyPr wrap="square" rtlCol="0" anchor="ctr"/>
          <a:lstStyle/>
          <a:p>
            <a:pPr indent="0" marL="0">
              <a:buNone/>
            </a:pPr>
            <a:r>
              <a:rPr lang="en-US" sz="1100" dirty="0">
                <a:solidFill>
                  <a:srgbClr val="5B6480"/>
                </a:solidFill>
                <a:latin typeface="Calibri" pitchFamily="34" charset="0"/>
                <a:ea typeface="Calibri" pitchFamily="34" charset="-122"/>
                <a:cs typeface="Calibri" pitchFamily="34" charset="-120"/>
              </a:rPr>
              <a:t>MIT License / Open Source</a:t>
            </a:r>
            <a:endParaRPr lang="en-US" sz="1100" dirty="0"/>
          </a:p>
        </p:txBody>
      </p:sp>
      <p:sp>
        <p:nvSpPr>
          <p:cNvPr id="14" name="Text 10"/>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01 / 18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85800"/>
            <a:ext cx="8229600" cy="73152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開発のきっかけ</a:t>
            </a:r>
            <a:endParaRPr lang="en-US" sz="3400" dirty="0"/>
          </a:p>
        </p:txBody>
      </p:sp>
      <p:sp>
        <p:nvSpPr>
          <p:cNvPr id="4" name="Shape 2"/>
          <p:cNvSpPr/>
          <p:nvPr/>
        </p:nvSpPr>
        <p:spPr>
          <a:xfrm>
            <a:off x="548640" y="1737360"/>
            <a:ext cx="6675120" cy="4297680"/>
          </a:xfrm>
          <a:prstGeom prst="rect">
            <a:avLst/>
          </a:prstGeom>
          <a:solidFill>
            <a:srgbClr val="F4F7FF"/>
          </a:solidFill>
          <a:ln/>
        </p:spPr>
      </p:sp>
      <p:sp>
        <p:nvSpPr>
          <p:cNvPr id="5" name="Text 3"/>
          <p:cNvSpPr/>
          <p:nvPr/>
        </p:nvSpPr>
        <p:spPr>
          <a:xfrm>
            <a:off x="868680" y="1965960"/>
            <a:ext cx="6217920" cy="3840480"/>
          </a:xfrm>
          <a:prstGeom prst="rect">
            <a:avLst/>
          </a:prstGeom>
          <a:noFill/>
          <a:ln/>
        </p:spPr>
        <p:txBody>
          <a:bodyPr wrap="square" rtlCol="0" anchor="t"/>
          <a:lstStyle/>
          <a:p>
            <a:pPr indent="0" marL="0">
              <a:lnSpc>
                <a:spcPct val="125000"/>
              </a:lnSpc>
              <a:spcAft>
                <a:spcPts val="1200"/>
              </a:spcAft>
              <a:buNone/>
            </a:pPr>
            <a:r>
              <a:rPr lang="en-US" sz="1500" dirty="0">
                <a:solidFill>
                  <a:srgbClr val="20264A"/>
                </a:solidFill>
                <a:latin typeface="Calibri" pitchFamily="34" charset="0"/>
                <a:ea typeface="Calibri" pitchFamily="34" charset="-122"/>
                <a:cs typeface="Calibri" pitchFamily="34" charset="-120"/>
              </a:rPr>
              <a:t>私は普段、個人事業として業務システムの開発をしています。</a:t>
            </a:r>
            <a:endParaRPr lang="en-US" sz="1500" dirty="0"/>
          </a:p>
          <a:p>
            <a:pPr indent="0" marL="0">
              <a:lnSpc>
                <a:spcPct val="125000"/>
              </a:lnSpc>
              <a:spcAft>
                <a:spcPts val="1200"/>
              </a:spcAft>
              <a:buNone/>
            </a:pPr>
            <a:r>
              <a:rPr lang="en-US" sz="1500" dirty="0">
                <a:solidFill>
                  <a:srgbClr val="20264A"/>
                </a:solidFill>
                <a:latin typeface="Calibri" pitchFamily="34" charset="0"/>
                <a:ea typeface="Calibri" pitchFamily="34" charset="-122"/>
                <a:cs typeface="Calibri" pitchFamily="34" charset="-120"/>
              </a:rPr>
              <a:t>介護施設向けの記録システムや、介護タクシーの配車システムなど、複数のプロジェクトを一人で開発していると、MySQL・PostgreSQL・SQL Server・Oracle……と、案件ごとに触るDBMSがバラバラになります。</a:t>
            </a:r>
            <a:endParaRPr lang="en-US" sz="1500" dirty="0"/>
          </a:p>
          <a:p>
            <a:pPr indent="0" marL="0">
              <a:lnSpc>
                <a:spcPct val="125000"/>
              </a:lnSpc>
              <a:buNone/>
            </a:pPr>
            <a:r>
              <a:rPr lang="en-US" sz="1500" dirty="0">
                <a:solidFill>
                  <a:srgbClr val="20264A"/>
                </a:solidFill>
                <a:latin typeface="Calibri" pitchFamily="34" charset="0"/>
                <a:ea typeface="Calibri" pitchFamily="34" charset="-122"/>
                <a:cs typeface="Calibri" pitchFamily="34" charset="-120"/>
              </a:rPr>
              <a:t>そのたびにツールを切り替えるのが地味にストレスで、「だったら自分で作ってしまおう」と思ったのが、NeoDB Studio の出発点です。</a:t>
            </a:r>
            <a:endParaRPr lang="en-US" sz="1500" dirty="0"/>
          </a:p>
        </p:txBody>
      </p:sp>
      <p:sp>
        <p:nvSpPr>
          <p:cNvPr id="6" name="Shape 4"/>
          <p:cNvSpPr/>
          <p:nvPr/>
        </p:nvSpPr>
        <p:spPr>
          <a:xfrm>
            <a:off x="7635240" y="1920240"/>
            <a:ext cx="640080" cy="64008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7718450" y="2003450"/>
            <a:ext cx="473659" cy="473659"/>
          </a:xfrm>
          <a:prstGeom prst="rect">
            <a:avLst/>
          </a:prstGeom>
        </p:spPr>
      </p:pic>
      <p:sp>
        <p:nvSpPr>
          <p:cNvPr id="8" name="Text 5"/>
          <p:cNvSpPr/>
          <p:nvPr/>
        </p:nvSpPr>
        <p:spPr>
          <a:xfrm>
            <a:off x="8458200" y="1993392"/>
            <a:ext cx="3200400" cy="502920"/>
          </a:xfrm>
          <a:prstGeom prst="rect">
            <a:avLst/>
          </a:prstGeom>
          <a:noFill/>
          <a:ln/>
        </p:spPr>
        <p:txBody>
          <a:bodyPr wrap="square" rtlCol="0" anchor="ctr"/>
          <a:lstStyle/>
          <a:p>
            <a:pPr indent="0" marL="0">
              <a:buNone/>
            </a:pPr>
            <a:r>
              <a:rPr lang="en-US" sz="1400" dirty="0">
                <a:solidFill>
                  <a:srgbClr val="20264A"/>
                </a:solidFill>
                <a:latin typeface="Calibri" pitchFamily="34" charset="0"/>
                <a:ea typeface="Calibri" pitchFamily="34" charset="-122"/>
                <a:cs typeface="Calibri" pitchFamily="34" charset="-120"/>
              </a:rPr>
              <a:t>.NET / WPF エンジニア</a:t>
            </a:r>
            <a:endParaRPr lang="en-US" sz="1400" dirty="0"/>
          </a:p>
        </p:txBody>
      </p:sp>
      <p:sp>
        <p:nvSpPr>
          <p:cNvPr id="9" name="Shape 6"/>
          <p:cNvSpPr/>
          <p:nvPr/>
        </p:nvSpPr>
        <p:spPr>
          <a:xfrm>
            <a:off x="7635240" y="2880360"/>
            <a:ext cx="640080" cy="640080"/>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7718450" y="2963570"/>
            <a:ext cx="473659" cy="473659"/>
          </a:xfrm>
          <a:prstGeom prst="rect">
            <a:avLst/>
          </a:prstGeom>
        </p:spPr>
      </p:pic>
      <p:sp>
        <p:nvSpPr>
          <p:cNvPr id="11" name="Text 7"/>
          <p:cNvSpPr/>
          <p:nvPr/>
        </p:nvSpPr>
        <p:spPr>
          <a:xfrm>
            <a:off x="8458200" y="2953512"/>
            <a:ext cx="3200400" cy="502920"/>
          </a:xfrm>
          <a:prstGeom prst="rect">
            <a:avLst/>
          </a:prstGeom>
          <a:noFill/>
          <a:ln/>
        </p:spPr>
        <p:txBody>
          <a:bodyPr wrap="square" rtlCol="0" anchor="ctr"/>
          <a:lstStyle/>
          <a:p>
            <a:pPr indent="0" marL="0">
              <a:buNone/>
            </a:pPr>
            <a:r>
              <a:rPr lang="en-US" sz="1400" dirty="0">
                <a:solidFill>
                  <a:srgbClr val="20264A"/>
                </a:solidFill>
                <a:latin typeface="Calibri" pitchFamily="34" charset="0"/>
                <a:ea typeface="Calibri" pitchFamily="34" charset="-122"/>
                <a:cs typeface="Calibri" pitchFamily="34" charset="-120"/>
              </a:rPr>
              <a:t>複数DBMSを日常的に扱う</a:t>
            </a:r>
            <a:endParaRPr lang="en-US" sz="1400" dirty="0"/>
          </a:p>
        </p:txBody>
      </p:sp>
      <p:sp>
        <p:nvSpPr>
          <p:cNvPr id="12" name="Shape 8"/>
          <p:cNvSpPr/>
          <p:nvPr/>
        </p:nvSpPr>
        <p:spPr>
          <a:xfrm>
            <a:off x="7635240" y="3840480"/>
            <a:ext cx="640080" cy="640080"/>
          </a:xfrm>
          <a:prstGeom prst="ellipse">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7718450" y="3923690"/>
            <a:ext cx="473659" cy="473659"/>
          </a:xfrm>
          <a:prstGeom prst="rect">
            <a:avLst/>
          </a:prstGeom>
        </p:spPr>
      </p:pic>
      <p:sp>
        <p:nvSpPr>
          <p:cNvPr id="14" name="Text 9"/>
          <p:cNvSpPr/>
          <p:nvPr/>
        </p:nvSpPr>
        <p:spPr>
          <a:xfrm>
            <a:off x="8458200" y="3913632"/>
            <a:ext cx="3200400" cy="502920"/>
          </a:xfrm>
          <a:prstGeom prst="rect">
            <a:avLst/>
          </a:prstGeom>
          <a:noFill/>
          <a:ln/>
        </p:spPr>
        <p:txBody>
          <a:bodyPr wrap="square" rtlCol="0" anchor="ctr"/>
          <a:lstStyle/>
          <a:p>
            <a:pPr indent="0" marL="0">
              <a:buNone/>
            </a:pPr>
            <a:r>
              <a:rPr lang="en-US" sz="1400" dirty="0">
                <a:solidFill>
                  <a:srgbClr val="20264A"/>
                </a:solidFill>
                <a:latin typeface="Calibri" pitchFamily="34" charset="0"/>
                <a:ea typeface="Calibri" pitchFamily="34" charset="-122"/>
                <a:cs typeface="Calibri" pitchFamily="34" charset="-120"/>
              </a:rPr>
              <a:t>個人開発・独学で構築</a:t>
            </a:r>
            <a:endParaRPr lang="en-US" sz="1400" dirty="0"/>
          </a:p>
        </p:txBody>
      </p:sp>
      <p:sp>
        <p:nvSpPr>
          <p:cNvPr id="16" name="Text 10"/>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PROBLEM</a:t>
            </a:r>
            <a:endParaRPr lang="en-US" sz="1300" dirty="0"/>
          </a:p>
        </p:txBody>
      </p:sp>
      <p:sp>
        <p:nvSpPr>
          <p:cNvPr id="3" name="Text 1"/>
          <p:cNvSpPr/>
          <p:nvPr/>
        </p:nvSpPr>
        <p:spPr>
          <a:xfrm>
            <a:off x="548640" y="685800"/>
            <a:ext cx="91440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既存ツールで感じていた不満</a:t>
            </a:r>
            <a:endParaRPr lang="en-US" sz="3200" dirty="0"/>
          </a:p>
        </p:txBody>
      </p:sp>
      <p:sp>
        <p:nvSpPr>
          <p:cNvPr id="4" name="Shape 2"/>
          <p:cNvSpPr/>
          <p:nvPr/>
        </p:nvSpPr>
        <p:spPr>
          <a:xfrm>
            <a:off x="548640" y="1874520"/>
            <a:ext cx="5349240" cy="2148840"/>
          </a:xfrm>
          <a:prstGeom prst="rect">
            <a:avLst/>
          </a:prstGeom>
          <a:solidFill>
            <a:srgbClr val="F4F7FF"/>
          </a:solidFill>
          <a:ln/>
          <a:effectLst>
            <a:outerShdw sx="100000" sy="100000" kx="0" ky="0" algn="bl" rotWithShape="0" blurRad="76200" dist="25400" dir="5400000">
              <a:srgbClr val="1E2761">
                <a:alpha val="12000"/>
              </a:srgbClr>
            </a:outerShdw>
          </a:effectLst>
        </p:spPr>
      </p:sp>
      <p:sp>
        <p:nvSpPr>
          <p:cNvPr id="5" name="Shape 3"/>
          <p:cNvSpPr/>
          <p:nvPr/>
        </p:nvSpPr>
        <p:spPr>
          <a:xfrm>
            <a:off x="804672" y="2130552"/>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878373" y="2204253"/>
            <a:ext cx="419527" cy="419527"/>
          </a:xfrm>
          <a:prstGeom prst="rect">
            <a:avLst/>
          </a:prstGeom>
        </p:spPr>
      </p:pic>
      <p:sp>
        <p:nvSpPr>
          <p:cNvPr id="7" name="Text 4"/>
          <p:cNvSpPr/>
          <p:nvPr/>
        </p:nvSpPr>
        <p:spPr>
          <a:xfrm>
            <a:off x="1554480" y="2093976"/>
            <a:ext cx="4114800" cy="4572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DBMSごとにツールが違う</a:t>
            </a:r>
            <a:endParaRPr lang="en-US" sz="1500" dirty="0"/>
          </a:p>
        </p:txBody>
      </p:sp>
      <p:sp>
        <p:nvSpPr>
          <p:cNvPr id="8" name="Text 5"/>
          <p:cNvSpPr/>
          <p:nvPr/>
        </p:nvSpPr>
        <p:spPr>
          <a:xfrm>
            <a:off x="804672" y="2770632"/>
            <a:ext cx="4837176" cy="1097280"/>
          </a:xfrm>
          <a:prstGeom prst="rect">
            <a:avLst/>
          </a:prstGeom>
          <a:noFill/>
          <a:ln/>
        </p:spPr>
        <p:txBody>
          <a:bodyPr wrap="square" rtlCol="0" anchor="t"/>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MySQL用、PostgreSQL用、Oracle用……ツールを何個も並行して使うのが煩雑</a:t>
            </a:r>
            <a:endParaRPr lang="en-US" sz="1250" dirty="0"/>
          </a:p>
        </p:txBody>
      </p:sp>
      <p:sp>
        <p:nvSpPr>
          <p:cNvPr id="9" name="Shape 6"/>
          <p:cNvSpPr/>
          <p:nvPr/>
        </p:nvSpPr>
        <p:spPr>
          <a:xfrm>
            <a:off x="6172200" y="1874520"/>
            <a:ext cx="5349240" cy="2148840"/>
          </a:xfrm>
          <a:prstGeom prst="rect">
            <a:avLst/>
          </a:prstGeom>
          <a:solidFill>
            <a:srgbClr val="F4F7FF"/>
          </a:solidFill>
          <a:ln/>
          <a:effectLst>
            <a:outerShdw sx="100000" sy="100000" kx="0" ky="0" algn="bl" rotWithShape="0" blurRad="76200" dist="25400" dir="5400000">
              <a:srgbClr val="1E2761">
                <a:alpha val="12000"/>
              </a:srgbClr>
            </a:outerShdw>
          </a:effectLst>
        </p:spPr>
      </p:sp>
      <p:sp>
        <p:nvSpPr>
          <p:cNvPr id="10" name="Shape 7"/>
          <p:cNvSpPr/>
          <p:nvPr/>
        </p:nvSpPr>
        <p:spPr>
          <a:xfrm>
            <a:off x="6428232" y="2130552"/>
            <a:ext cx="566928" cy="566928"/>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501933" y="2204253"/>
            <a:ext cx="419527" cy="419527"/>
          </a:xfrm>
          <a:prstGeom prst="rect">
            <a:avLst/>
          </a:prstGeom>
        </p:spPr>
      </p:pic>
      <p:sp>
        <p:nvSpPr>
          <p:cNvPr id="12" name="Text 8"/>
          <p:cNvSpPr/>
          <p:nvPr/>
        </p:nvSpPr>
        <p:spPr>
          <a:xfrm>
            <a:off x="7178040" y="2093976"/>
            <a:ext cx="4114800" cy="4572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ER図が見にくい</a:t>
            </a:r>
            <a:endParaRPr lang="en-US" sz="1500" dirty="0"/>
          </a:p>
        </p:txBody>
      </p:sp>
      <p:sp>
        <p:nvSpPr>
          <p:cNvPr id="13" name="Text 9"/>
          <p:cNvSpPr/>
          <p:nvPr/>
        </p:nvSpPr>
        <p:spPr>
          <a:xfrm>
            <a:off x="6428232" y="2770632"/>
            <a:ext cx="4837176" cy="1097280"/>
          </a:xfrm>
          <a:prstGeom prst="rect">
            <a:avLst/>
          </a:prstGeom>
          <a:noFill/>
          <a:ln/>
        </p:spPr>
        <p:txBody>
          <a:bodyPr wrap="square" rtlCol="0" anchor="t"/>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テーブルが多いスキーマだと1枚に全部詰め込まれて、結局読めない</a:t>
            </a:r>
            <a:endParaRPr lang="en-US" sz="1250" dirty="0"/>
          </a:p>
        </p:txBody>
      </p:sp>
      <p:sp>
        <p:nvSpPr>
          <p:cNvPr id="14" name="Shape 10"/>
          <p:cNvSpPr/>
          <p:nvPr/>
        </p:nvSpPr>
        <p:spPr>
          <a:xfrm>
            <a:off x="548640" y="4297680"/>
            <a:ext cx="5349240" cy="2148840"/>
          </a:xfrm>
          <a:prstGeom prst="rect">
            <a:avLst/>
          </a:prstGeom>
          <a:solidFill>
            <a:srgbClr val="F4F7FF"/>
          </a:solidFill>
          <a:ln/>
          <a:effectLst>
            <a:outerShdw sx="100000" sy="100000" kx="0" ky="0" algn="bl" rotWithShape="0" blurRad="76200" dist="25400" dir="5400000">
              <a:srgbClr val="1E2761">
                <a:alpha val="12000"/>
              </a:srgbClr>
            </a:outerShdw>
          </a:effectLst>
        </p:spPr>
      </p:sp>
      <p:sp>
        <p:nvSpPr>
          <p:cNvPr id="15" name="Shape 11"/>
          <p:cNvSpPr/>
          <p:nvPr/>
        </p:nvSpPr>
        <p:spPr>
          <a:xfrm>
            <a:off x="804672" y="4553712"/>
            <a:ext cx="566928" cy="566928"/>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878373" y="4627413"/>
            <a:ext cx="419527" cy="419527"/>
          </a:xfrm>
          <a:prstGeom prst="rect">
            <a:avLst/>
          </a:prstGeom>
        </p:spPr>
      </p:pic>
      <p:sp>
        <p:nvSpPr>
          <p:cNvPr id="17" name="Text 12"/>
          <p:cNvSpPr/>
          <p:nvPr/>
        </p:nvSpPr>
        <p:spPr>
          <a:xfrm>
            <a:off x="1554480" y="4517136"/>
            <a:ext cx="4114800" cy="4572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資料化がひと手間</a:t>
            </a:r>
            <a:endParaRPr lang="en-US" sz="1500" dirty="0"/>
          </a:p>
        </p:txBody>
      </p:sp>
      <p:sp>
        <p:nvSpPr>
          <p:cNvPr id="18" name="Text 13"/>
          <p:cNvSpPr/>
          <p:nvPr/>
        </p:nvSpPr>
        <p:spPr>
          <a:xfrm>
            <a:off x="804672" y="5193792"/>
            <a:ext cx="4837176" cy="1097280"/>
          </a:xfrm>
          <a:prstGeom prst="rect">
            <a:avLst/>
          </a:prstGeom>
          <a:noFill/>
          <a:ln/>
        </p:spPr>
        <p:txBody>
          <a:bodyPr wrap="square" rtlCol="0" anchor="t"/>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設計書やスキーマ一覧をExcelにまとめる作業を毎回手作業でやっていた</a:t>
            </a:r>
            <a:endParaRPr lang="en-US" sz="1250" dirty="0"/>
          </a:p>
        </p:txBody>
      </p:sp>
      <p:sp>
        <p:nvSpPr>
          <p:cNvPr id="19" name="Shape 14"/>
          <p:cNvSpPr/>
          <p:nvPr/>
        </p:nvSpPr>
        <p:spPr>
          <a:xfrm>
            <a:off x="6172200" y="4297680"/>
            <a:ext cx="5349240" cy="2148840"/>
          </a:xfrm>
          <a:prstGeom prst="rect">
            <a:avLst/>
          </a:prstGeom>
          <a:solidFill>
            <a:srgbClr val="F4F7FF"/>
          </a:solidFill>
          <a:ln/>
          <a:effectLst>
            <a:outerShdw sx="100000" sy="100000" kx="0" ky="0" algn="bl" rotWithShape="0" blurRad="76200" dist="25400" dir="5400000">
              <a:srgbClr val="1E2761">
                <a:alpha val="12000"/>
              </a:srgbClr>
            </a:outerShdw>
          </a:effectLst>
        </p:spPr>
      </p:sp>
      <p:sp>
        <p:nvSpPr>
          <p:cNvPr id="20" name="Shape 15"/>
          <p:cNvSpPr/>
          <p:nvPr/>
        </p:nvSpPr>
        <p:spPr>
          <a:xfrm>
            <a:off x="6428232" y="4553712"/>
            <a:ext cx="566928" cy="566928"/>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6501933" y="4627413"/>
            <a:ext cx="419527" cy="419527"/>
          </a:xfrm>
          <a:prstGeom prst="rect">
            <a:avLst/>
          </a:prstGeom>
        </p:spPr>
      </p:pic>
      <p:sp>
        <p:nvSpPr>
          <p:cNvPr id="22" name="Text 16"/>
          <p:cNvSpPr/>
          <p:nvPr/>
        </p:nvSpPr>
        <p:spPr>
          <a:xfrm>
            <a:off x="7178040" y="4517136"/>
            <a:ext cx="4114800" cy="4572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接続情報の管理が不安</a:t>
            </a:r>
            <a:endParaRPr lang="en-US" sz="1500" dirty="0"/>
          </a:p>
        </p:txBody>
      </p:sp>
      <p:sp>
        <p:nvSpPr>
          <p:cNvPr id="23" name="Text 17"/>
          <p:cNvSpPr/>
          <p:nvPr/>
        </p:nvSpPr>
        <p:spPr>
          <a:xfrm>
            <a:off x="6428232" y="5193792"/>
            <a:ext cx="4837176" cy="1097280"/>
          </a:xfrm>
          <a:prstGeom prst="rect">
            <a:avLst/>
          </a:prstGeom>
          <a:noFill/>
          <a:ln/>
        </p:spPr>
        <p:txBody>
          <a:bodyPr wrap="square" rtlCol="0" anchor="t"/>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パスワード入りの接続文字列を平文のファイルで持ち歩くのは気持ち悪い</a:t>
            </a:r>
            <a:endParaRPr lang="en-US" sz="1250" dirty="0"/>
          </a:p>
        </p:txBody>
      </p:sp>
      <p:sp>
        <p:nvSpPr>
          <p:cNvPr id="25" name="Text 18"/>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141B47"/>
          </a:solidFill>
          <a:ln/>
        </p:spPr>
      </p:sp>
      <p:sp>
        <p:nvSpPr>
          <p:cNvPr id="3" name="Text 1"/>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WHAT IS IT</a:t>
            </a:r>
            <a:endParaRPr lang="en-US" sz="1300" dirty="0"/>
          </a:p>
        </p:txBody>
      </p:sp>
      <p:sp>
        <p:nvSpPr>
          <p:cNvPr id="4" name="Text 2"/>
          <p:cNvSpPr/>
          <p:nvPr/>
        </p:nvSpPr>
        <p:spPr>
          <a:xfrm>
            <a:off x="548640" y="685800"/>
            <a:ext cx="91440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NeoDB Studioとは</a:t>
            </a:r>
            <a:endParaRPr lang="en-US" sz="3200" dirty="0"/>
          </a:p>
        </p:txBody>
      </p:sp>
      <p:sp>
        <p:nvSpPr>
          <p:cNvPr id="5" name="Text 3"/>
          <p:cNvSpPr/>
          <p:nvPr/>
        </p:nvSpPr>
        <p:spPr>
          <a:xfrm>
            <a:off x="640080" y="2011680"/>
            <a:ext cx="10789920" cy="822960"/>
          </a:xfrm>
          <a:prstGeom prst="rect">
            <a:avLst/>
          </a:prstGeom>
          <a:noFill/>
          <a:ln/>
        </p:spPr>
        <p:txBody>
          <a:bodyPr wrap="square" rtlCol="0" anchor="ctr"/>
          <a:lstStyle/>
          <a:p>
            <a:pPr algn="l" indent="0" marL="0">
              <a:buNone/>
            </a:pPr>
            <a:r>
              <a:rPr lang="en-US" sz="2800" dirty="0">
                <a:solidFill>
                  <a:srgbClr val="FFFFFF"/>
                </a:solidFill>
                <a:latin typeface="Cambria" pitchFamily="34" charset="0"/>
                <a:ea typeface="Cambria" pitchFamily="34" charset="-122"/>
                <a:cs typeface="Cambria" pitchFamily="34" charset="-120"/>
              </a:rPr>
              <a:t>8種類のDBMSに</a:t>
            </a:r>
            <a:pPr algn="l" indent="0" marL="0">
              <a:buNone/>
            </a:pPr>
            <a:r>
              <a:rPr lang="en-US" sz="2800" b="1" dirty="0">
                <a:solidFill>
                  <a:srgbClr val="CADCFC"/>
                </a:solidFill>
                <a:latin typeface="Cambria" pitchFamily="34" charset="0"/>
                <a:ea typeface="Cambria" pitchFamily="34" charset="-122"/>
                <a:cs typeface="Cambria" pitchFamily="34" charset="-120"/>
              </a:rPr>
              <a:t>ひとつの画面</a:t>
            </a:r>
            <a:pPr algn="l" indent="0" marL="0">
              <a:buNone/>
            </a:pPr>
            <a:r>
              <a:rPr lang="en-US" sz="2800" dirty="0">
                <a:solidFill>
                  <a:srgbClr val="FFFFFF"/>
                </a:solidFill>
                <a:latin typeface="Cambria" pitchFamily="34" charset="0"/>
                <a:ea typeface="Cambria" pitchFamily="34" charset="-122"/>
                <a:cs typeface="Cambria" pitchFamily="34" charset="-120"/>
              </a:rPr>
              <a:t>で接続できる、</a:t>
            </a:r>
            <a:endParaRPr lang="en-US" sz="2800" dirty="0"/>
          </a:p>
        </p:txBody>
      </p:sp>
      <p:sp>
        <p:nvSpPr>
          <p:cNvPr id="6" name="Text 4"/>
          <p:cNvSpPr/>
          <p:nvPr/>
        </p:nvSpPr>
        <p:spPr>
          <a:xfrm>
            <a:off x="640080" y="2697480"/>
            <a:ext cx="10789920" cy="822960"/>
          </a:xfrm>
          <a:prstGeom prst="rect">
            <a:avLst/>
          </a:prstGeom>
          <a:noFill/>
          <a:ln/>
        </p:spPr>
        <p:txBody>
          <a:bodyPr wrap="square" rtlCol="0" anchor="ctr"/>
          <a:lstStyle/>
          <a:p>
            <a:pPr algn="l" indent="0" marL="0">
              <a:buNone/>
            </a:pPr>
            <a:r>
              <a:rPr lang="en-US" sz="2800" dirty="0">
                <a:solidFill>
                  <a:srgbClr val="FFFFFF"/>
                </a:solidFill>
                <a:latin typeface="Cambria" pitchFamily="34" charset="0"/>
                <a:ea typeface="Cambria" pitchFamily="34" charset="-122"/>
                <a:cs typeface="Cambria" pitchFamily="34" charset="-120"/>
              </a:rPr>
              <a:t>Windows デスクトップ向けの</a:t>
            </a:r>
            <a:pPr algn="l" indent="0" marL="0">
              <a:buNone/>
            </a:pPr>
            <a:r>
              <a:rPr lang="en-US" sz="2800" b="1" dirty="0">
                <a:solidFill>
                  <a:srgbClr val="CADCFC"/>
                </a:solidFill>
                <a:latin typeface="Cambria" pitchFamily="34" charset="0"/>
                <a:ea typeface="Cambria" pitchFamily="34" charset="-122"/>
                <a:cs typeface="Cambria" pitchFamily="34" charset="-120"/>
              </a:rPr>
              <a:t>統合データベース管理ツール</a:t>
            </a:r>
            <a:pPr algn="l" indent="0" marL="0">
              <a:buNone/>
            </a:pPr>
            <a:r>
              <a:rPr lang="en-US" sz="2800" dirty="0">
                <a:solidFill>
                  <a:srgbClr val="FFFFFF"/>
                </a:solidFill>
                <a:latin typeface="Cambria" pitchFamily="34" charset="0"/>
                <a:ea typeface="Cambria" pitchFamily="34" charset="-122"/>
                <a:cs typeface="Cambria" pitchFamily="34" charset="-120"/>
              </a:rPr>
              <a:t>です。</a:t>
            </a:r>
            <a:endParaRPr lang="en-US" sz="2800" dirty="0"/>
          </a:p>
        </p:txBody>
      </p:sp>
      <p:sp>
        <p:nvSpPr>
          <p:cNvPr id="7" name="Text 5"/>
          <p:cNvSpPr/>
          <p:nvPr/>
        </p:nvSpPr>
        <p:spPr>
          <a:xfrm>
            <a:off x="640080" y="4160520"/>
            <a:ext cx="3108960" cy="914400"/>
          </a:xfrm>
          <a:prstGeom prst="rect">
            <a:avLst/>
          </a:prstGeom>
          <a:noFill/>
          <a:ln/>
        </p:spPr>
        <p:txBody>
          <a:bodyPr wrap="square" rtlCol="0" anchor="ctr"/>
          <a:lstStyle/>
          <a:p>
            <a:pPr indent="0" marL="0">
              <a:buNone/>
            </a:pPr>
            <a:r>
              <a:rPr lang="en-US" sz="5200" b="1" dirty="0">
                <a:solidFill>
                  <a:srgbClr val="CADCFC"/>
                </a:solidFill>
                <a:latin typeface="Cambria" pitchFamily="34" charset="0"/>
                <a:ea typeface="Cambria" pitchFamily="34" charset="-122"/>
                <a:cs typeface="Cambria" pitchFamily="34" charset="-120"/>
              </a:rPr>
              <a:t>8</a:t>
            </a:r>
            <a:endParaRPr lang="en-US" sz="5200" dirty="0"/>
          </a:p>
        </p:txBody>
      </p:sp>
      <p:sp>
        <p:nvSpPr>
          <p:cNvPr id="8" name="Text 6"/>
          <p:cNvSpPr/>
          <p:nvPr/>
        </p:nvSpPr>
        <p:spPr>
          <a:xfrm>
            <a:off x="640080" y="5074920"/>
            <a:ext cx="3108960" cy="365760"/>
          </a:xfrm>
          <a:prstGeom prst="rect">
            <a:avLst/>
          </a:prstGeom>
          <a:noFill/>
          <a:ln/>
        </p:spPr>
        <p:txBody>
          <a:bodyPr wrap="square" rtlCol="0" anchor="ctr"/>
          <a:lstStyle/>
          <a:p>
            <a:pPr indent="0" marL="0">
              <a:buNone/>
            </a:pPr>
            <a:r>
              <a:rPr lang="en-US" sz="1400" dirty="0">
                <a:solidFill>
                  <a:srgbClr val="9FB0E8"/>
                </a:solidFill>
                <a:latin typeface="Calibri" pitchFamily="34" charset="0"/>
                <a:ea typeface="Calibri" pitchFamily="34" charset="-122"/>
                <a:cs typeface="Calibri" pitchFamily="34" charset="-120"/>
              </a:rPr>
              <a:t>対応DBMS数</a:t>
            </a:r>
            <a:endParaRPr lang="en-US" sz="1400" dirty="0"/>
          </a:p>
        </p:txBody>
      </p:sp>
      <p:sp>
        <p:nvSpPr>
          <p:cNvPr id="9" name="Text 7"/>
          <p:cNvSpPr/>
          <p:nvPr/>
        </p:nvSpPr>
        <p:spPr>
          <a:xfrm>
            <a:off x="4206240" y="4160520"/>
            <a:ext cx="3108960" cy="914400"/>
          </a:xfrm>
          <a:prstGeom prst="rect">
            <a:avLst/>
          </a:prstGeom>
          <a:noFill/>
          <a:ln/>
        </p:spPr>
        <p:txBody>
          <a:bodyPr wrap="square" rtlCol="0" anchor="ctr"/>
          <a:lstStyle/>
          <a:p>
            <a:pPr indent="0" marL="0">
              <a:buNone/>
            </a:pPr>
            <a:r>
              <a:rPr lang="en-US" sz="5200" b="1" dirty="0">
                <a:solidFill>
                  <a:srgbClr val="CADCFC"/>
                </a:solidFill>
                <a:latin typeface="Cambria" pitchFamily="34" charset="0"/>
                <a:ea typeface="Cambria" pitchFamily="34" charset="-122"/>
                <a:cs typeface="Cambria" pitchFamily="34" charset="-120"/>
              </a:rPr>
              <a:t>MIT</a:t>
            </a:r>
            <a:endParaRPr lang="en-US" sz="5200" dirty="0"/>
          </a:p>
        </p:txBody>
      </p:sp>
      <p:sp>
        <p:nvSpPr>
          <p:cNvPr id="10" name="Text 8"/>
          <p:cNvSpPr/>
          <p:nvPr/>
        </p:nvSpPr>
        <p:spPr>
          <a:xfrm>
            <a:off x="4206240" y="5074920"/>
            <a:ext cx="3108960" cy="365760"/>
          </a:xfrm>
          <a:prstGeom prst="rect">
            <a:avLst/>
          </a:prstGeom>
          <a:noFill/>
          <a:ln/>
        </p:spPr>
        <p:txBody>
          <a:bodyPr wrap="square" rtlCol="0" anchor="ctr"/>
          <a:lstStyle/>
          <a:p>
            <a:pPr indent="0" marL="0">
              <a:buNone/>
            </a:pPr>
            <a:r>
              <a:rPr lang="en-US" sz="1400" dirty="0">
                <a:solidFill>
                  <a:srgbClr val="9FB0E8"/>
                </a:solidFill>
                <a:latin typeface="Calibri" pitchFamily="34" charset="0"/>
                <a:ea typeface="Calibri" pitchFamily="34" charset="-122"/>
                <a:cs typeface="Calibri" pitchFamily="34" charset="-120"/>
              </a:rPr>
              <a:t>ライセンス</a:t>
            </a:r>
            <a:endParaRPr lang="en-US" sz="1400" dirty="0"/>
          </a:p>
        </p:txBody>
      </p:sp>
      <p:sp>
        <p:nvSpPr>
          <p:cNvPr id="11" name="Text 9"/>
          <p:cNvSpPr/>
          <p:nvPr/>
        </p:nvSpPr>
        <p:spPr>
          <a:xfrm>
            <a:off x="7772400" y="4160520"/>
            <a:ext cx="3108960" cy="914400"/>
          </a:xfrm>
          <a:prstGeom prst="rect">
            <a:avLst/>
          </a:prstGeom>
          <a:noFill/>
          <a:ln/>
        </p:spPr>
        <p:txBody>
          <a:bodyPr wrap="square" rtlCol="0" anchor="ctr"/>
          <a:lstStyle/>
          <a:p>
            <a:pPr indent="0" marL="0">
              <a:buNone/>
            </a:pPr>
            <a:r>
              <a:rPr lang="en-US" sz="5200" b="1" dirty="0">
                <a:solidFill>
                  <a:srgbClr val="CADCFC"/>
                </a:solidFill>
                <a:latin typeface="Cambria" pitchFamily="34" charset="0"/>
                <a:ea typeface="Cambria" pitchFamily="34" charset="-122"/>
                <a:cs typeface="Cambria" pitchFamily="34" charset="-120"/>
              </a:rPr>
              <a:t>¥0</a:t>
            </a:r>
            <a:endParaRPr lang="en-US" sz="5200" dirty="0"/>
          </a:p>
        </p:txBody>
      </p:sp>
      <p:sp>
        <p:nvSpPr>
          <p:cNvPr id="12" name="Text 10"/>
          <p:cNvSpPr/>
          <p:nvPr/>
        </p:nvSpPr>
        <p:spPr>
          <a:xfrm>
            <a:off x="7772400" y="5074920"/>
            <a:ext cx="3108960" cy="365760"/>
          </a:xfrm>
          <a:prstGeom prst="rect">
            <a:avLst/>
          </a:prstGeom>
          <a:noFill/>
          <a:ln/>
        </p:spPr>
        <p:txBody>
          <a:bodyPr wrap="square" rtlCol="0" anchor="ctr"/>
          <a:lstStyle/>
          <a:p>
            <a:pPr indent="0" marL="0">
              <a:buNone/>
            </a:pPr>
            <a:r>
              <a:rPr lang="en-US" sz="1400" dirty="0">
                <a:solidFill>
                  <a:srgbClr val="9FB0E8"/>
                </a:solidFill>
                <a:latin typeface="Calibri" pitchFamily="34" charset="0"/>
                <a:ea typeface="Calibri" pitchFamily="34" charset="-122"/>
                <a:cs typeface="Calibri" pitchFamily="34" charset="-120"/>
              </a:rPr>
              <a:t>利用料金</a:t>
            </a:r>
            <a:endParaRPr lang="en-US" sz="1400" dirty="0"/>
          </a:p>
        </p:txBody>
      </p:sp>
      <p:sp>
        <p:nvSpPr>
          <p:cNvPr id="14" name="Text 11"/>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SUPPORTED DATABASES</a:t>
            </a:r>
            <a:endParaRPr lang="en-US" sz="1300" dirty="0"/>
          </a:p>
        </p:txBody>
      </p:sp>
      <p:sp>
        <p:nvSpPr>
          <p:cNvPr id="3" name="Text 1"/>
          <p:cNvSpPr/>
          <p:nvPr/>
        </p:nvSpPr>
        <p:spPr>
          <a:xfrm>
            <a:off x="548640" y="685800"/>
            <a:ext cx="91440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対応DBMS 8種類</a:t>
            </a:r>
            <a:endParaRPr lang="en-US" sz="3200" dirty="0"/>
          </a:p>
        </p:txBody>
      </p:sp>
      <p:sp>
        <p:nvSpPr>
          <p:cNvPr id="4" name="Text 2"/>
          <p:cNvSpPr/>
          <p:nvPr/>
        </p:nvSpPr>
        <p:spPr>
          <a:xfrm>
            <a:off x="566928" y="1325880"/>
            <a:ext cx="9144000" cy="365760"/>
          </a:xfrm>
          <a:prstGeom prst="rect">
            <a:avLst/>
          </a:prstGeom>
          <a:noFill/>
          <a:ln/>
        </p:spPr>
        <p:txBody>
          <a:bodyPr wrap="square" rtlCol="0" anchor="ctr"/>
          <a:lstStyle/>
          <a:p>
            <a:pPr indent="0" marL="0">
              <a:buNone/>
            </a:pPr>
            <a:r>
              <a:rPr lang="en-US" sz="1400" dirty="0">
                <a:solidFill>
                  <a:srgbClr val="5B6480"/>
                </a:solidFill>
                <a:latin typeface="Calibri" pitchFamily="34" charset="0"/>
                <a:ea typeface="Calibri" pitchFamily="34" charset="-122"/>
                <a:cs typeface="Calibri" pitchFamily="34" charset="-120"/>
              </a:rPr>
              <a:t>リレーショナルからNoSQL、インメモリまで幅広くカバー</a:t>
            </a:r>
            <a:endParaRPr lang="en-US" sz="1400" dirty="0"/>
          </a:p>
        </p:txBody>
      </p:sp>
      <p:sp>
        <p:nvSpPr>
          <p:cNvPr id="5" name="Shape 3"/>
          <p:cNvSpPr/>
          <p:nvPr/>
        </p:nvSpPr>
        <p:spPr>
          <a:xfrm>
            <a:off x="594360" y="1920240"/>
            <a:ext cx="2606040" cy="1965960"/>
          </a:xfrm>
          <a:prstGeom prst="rect">
            <a:avLst/>
          </a:prstGeom>
          <a:solidFill>
            <a:srgbClr val="1E2761"/>
          </a:solidFill>
          <a:ln/>
        </p:spPr>
      </p:sp>
      <p:sp>
        <p:nvSpPr>
          <p:cNvPr id="6" name="Shape 4"/>
          <p:cNvSpPr/>
          <p:nvPr/>
        </p:nvSpPr>
        <p:spPr>
          <a:xfrm>
            <a:off x="1531620" y="2176272"/>
            <a:ext cx="731520" cy="731520"/>
          </a:xfrm>
          <a:prstGeom prst="ellipse">
            <a:avLst/>
          </a:prstGeom>
          <a:solidFill>
            <a:srgbClr val="2C3680"/>
          </a:solidFill>
          <a:ln/>
        </p:spPr>
      </p:sp>
      <p:pic>
        <p:nvPicPr>
          <p:cNvPr id="7" name="Image 0" descr="preencoded.png">    </p:cNvPr>
          <p:cNvPicPr>
            <a:picLocks noChangeAspect="1"/>
          </p:cNvPicPr>
          <p:nvPr/>
        </p:nvPicPr>
        <p:blipFill>
          <a:blip r:embed="rId1"/>
          <a:stretch>
            <a:fillRect/>
          </a:stretch>
        </p:blipFill>
        <p:spPr>
          <a:xfrm>
            <a:off x="1626718" y="2271370"/>
            <a:ext cx="541325" cy="541325"/>
          </a:xfrm>
          <a:prstGeom prst="rect">
            <a:avLst/>
          </a:prstGeom>
        </p:spPr>
      </p:pic>
      <p:sp>
        <p:nvSpPr>
          <p:cNvPr id="8" name="Text 5"/>
          <p:cNvSpPr/>
          <p:nvPr/>
        </p:nvSpPr>
        <p:spPr>
          <a:xfrm>
            <a:off x="685800" y="306324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MySQL</a:t>
            </a:r>
            <a:endParaRPr lang="en-US" sz="1600" dirty="0"/>
          </a:p>
        </p:txBody>
      </p:sp>
      <p:sp>
        <p:nvSpPr>
          <p:cNvPr id="9" name="Text 6"/>
          <p:cNvSpPr/>
          <p:nvPr/>
        </p:nvSpPr>
        <p:spPr>
          <a:xfrm>
            <a:off x="685800" y="345643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リレーショナル</a:t>
            </a:r>
            <a:endParaRPr lang="en-US" sz="1100" dirty="0"/>
          </a:p>
        </p:txBody>
      </p:sp>
      <p:sp>
        <p:nvSpPr>
          <p:cNvPr id="10" name="Shape 7"/>
          <p:cNvSpPr/>
          <p:nvPr/>
        </p:nvSpPr>
        <p:spPr>
          <a:xfrm>
            <a:off x="3401568" y="1920240"/>
            <a:ext cx="2606040" cy="1965960"/>
          </a:xfrm>
          <a:prstGeom prst="rect">
            <a:avLst/>
          </a:prstGeom>
          <a:solidFill>
            <a:srgbClr val="1E2761"/>
          </a:solidFill>
          <a:ln/>
        </p:spPr>
      </p:sp>
      <p:sp>
        <p:nvSpPr>
          <p:cNvPr id="11" name="Shape 8"/>
          <p:cNvSpPr/>
          <p:nvPr/>
        </p:nvSpPr>
        <p:spPr>
          <a:xfrm>
            <a:off x="4338828" y="2176272"/>
            <a:ext cx="731520" cy="731520"/>
          </a:xfrm>
          <a:prstGeom prst="ellipse">
            <a:avLst/>
          </a:prstGeom>
          <a:solidFill>
            <a:srgbClr val="2C3680"/>
          </a:solidFill>
          <a:ln/>
        </p:spPr>
      </p:sp>
      <p:pic>
        <p:nvPicPr>
          <p:cNvPr id="12" name="Image 1" descr="preencoded.png">    </p:cNvPr>
          <p:cNvPicPr>
            <a:picLocks noChangeAspect="1"/>
          </p:cNvPicPr>
          <p:nvPr/>
        </p:nvPicPr>
        <p:blipFill>
          <a:blip r:embed="rId2"/>
          <a:stretch>
            <a:fillRect/>
          </a:stretch>
        </p:blipFill>
        <p:spPr>
          <a:xfrm>
            <a:off x="4433926" y="2271370"/>
            <a:ext cx="541325" cy="541325"/>
          </a:xfrm>
          <a:prstGeom prst="rect">
            <a:avLst/>
          </a:prstGeom>
        </p:spPr>
      </p:pic>
      <p:sp>
        <p:nvSpPr>
          <p:cNvPr id="13" name="Text 9"/>
          <p:cNvSpPr/>
          <p:nvPr/>
        </p:nvSpPr>
        <p:spPr>
          <a:xfrm>
            <a:off x="3493008" y="306324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MariaDB</a:t>
            </a:r>
            <a:endParaRPr lang="en-US" sz="1600" dirty="0"/>
          </a:p>
        </p:txBody>
      </p:sp>
      <p:sp>
        <p:nvSpPr>
          <p:cNvPr id="14" name="Text 10"/>
          <p:cNvSpPr/>
          <p:nvPr/>
        </p:nvSpPr>
        <p:spPr>
          <a:xfrm>
            <a:off x="3493008" y="345643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リレーショナル</a:t>
            </a:r>
            <a:endParaRPr lang="en-US" sz="1100" dirty="0"/>
          </a:p>
        </p:txBody>
      </p:sp>
      <p:sp>
        <p:nvSpPr>
          <p:cNvPr id="15" name="Shape 11"/>
          <p:cNvSpPr/>
          <p:nvPr/>
        </p:nvSpPr>
        <p:spPr>
          <a:xfrm>
            <a:off x="6208776" y="1920240"/>
            <a:ext cx="2606040" cy="1965960"/>
          </a:xfrm>
          <a:prstGeom prst="rect">
            <a:avLst/>
          </a:prstGeom>
          <a:solidFill>
            <a:srgbClr val="1E2761"/>
          </a:solidFill>
          <a:ln/>
        </p:spPr>
      </p:sp>
      <p:sp>
        <p:nvSpPr>
          <p:cNvPr id="16" name="Shape 12"/>
          <p:cNvSpPr/>
          <p:nvPr/>
        </p:nvSpPr>
        <p:spPr>
          <a:xfrm>
            <a:off x="7146036" y="2176272"/>
            <a:ext cx="731520" cy="731520"/>
          </a:xfrm>
          <a:prstGeom prst="ellipse">
            <a:avLst/>
          </a:prstGeom>
          <a:solidFill>
            <a:srgbClr val="2C3680"/>
          </a:solidFill>
          <a:ln/>
        </p:spPr>
      </p:sp>
      <p:pic>
        <p:nvPicPr>
          <p:cNvPr id="17" name="Image 2" descr="preencoded.png">    </p:cNvPr>
          <p:cNvPicPr>
            <a:picLocks noChangeAspect="1"/>
          </p:cNvPicPr>
          <p:nvPr/>
        </p:nvPicPr>
        <p:blipFill>
          <a:blip r:embed="rId3"/>
          <a:stretch>
            <a:fillRect/>
          </a:stretch>
        </p:blipFill>
        <p:spPr>
          <a:xfrm>
            <a:off x="7241134" y="2271370"/>
            <a:ext cx="541325" cy="541325"/>
          </a:xfrm>
          <a:prstGeom prst="rect">
            <a:avLst/>
          </a:prstGeom>
        </p:spPr>
      </p:pic>
      <p:sp>
        <p:nvSpPr>
          <p:cNvPr id="18" name="Text 13"/>
          <p:cNvSpPr/>
          <p:nvPr/>
        </p:nvSpPr>
        <p:spPr>
          <a:xfrm>
            <a:off x="6300216" y="306324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PostgreSQL</a:t>
            </a:r>
            <a:endParaRPr lang="en-US" sz="1600" dirty="0"/>
          </a:p>
        </p:txBody>
      </p:sp>
      <p:sp>
        <p:nvSpPr>
          <p:cNvPr id="19" name="Text 14"/>
          <p:cNvSpPr/>
          <p:nvPr/>
        </p:nvSpPr>
        <p:spPr>
          <a:xfrm>
            <a:off x="6300216" y="345643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リレーショナル</a:t>
            </a:r>
            <a:endParaRPr lang="en-US" sz="1100" dirty="0"/>
          </a:p>
        </p:txBody>
      </p:sp>
      <p:sp>
        <p:nvSpPr>
          <p:cNvPr id="20" name="Shape 15"/>
          <p:cNvSpPr/>
          <p:nvPr/>
        </p:nvSpPr>
        <p:spPr>
          <a:xfrm>
            <a:off x="9015984" y="1920240"/>
            <a:ext cx="2606040" cy="1965960"/>
          </a:xfrm>
          <a:prstGeom prst="rect">
            <a:avLst/>
          </a:prstGeom>
          <a:solidFill>
            <a:srgbClr val="1E2761"/>
          </a:solidFill>
          <a:ln/>
        </p:spPr>
      </p:sp>
      <p:sp>
        <p:nvSpPr>
          <p:cNvPr id="21" name="Shape 16"/>
          <p:cNvSpPr/>
          <p:nvPr/>
        </p:nvSpPr>
        <p:spPr>
          <a:xfrm>
            <a:off x="9953244" y="2176272"/>
            <a:ext cx="731520" cy="731520"/>
          </a:xfrm>
          <a:prstGeom prst="ellipse">
            <a:avLst/>
          </a:prstGeom>
          <a:solidFill>
            <a:srgbClr val="2C3680"/>
          </a:solidFill>
          <a:ln/>
        </p:spPr>
      </p:sp>
      <p:pic>
        <p:nvPicPr>
          <p:cNvPr id="22" name="Image 3" descr="preencoded.png">    </p:cNvPr>
          <p:cNvPicPr>
            <a:picLocks noChangeAspect="1"/>
          </p:cNvPicPr>
          <p:nvPr/>
        </p:nvPicPr>
        <p:blipFill>
          <a:blip r:embed="rId4"/>
          <a:stretch>
            <a:fillRect/>
          </a:stretch>
        </p:blipFill>
        <p:spPr>
          <a:xfrm>
            <a:off x="10048342" y="2271370"/>
            <a:ext cx="541325" cy="541325"/>
          </a:xfrm>
          <a:prstGeom prst="rect">
            <a:avLst/>
          </a:prstGeom>
        </p:spPr>
      </p:pic>
      <p:sp>
        <p:nvSpPr>
          <p:cNvPr id="23" name="Text 17"/>
          <p:cNvSpPr/>
          <p:nvPr/>
        </p:nvSpPr>
        <p:spPr>
          <a:xfrm>
            <a:off x="9107424" y="306324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SQL Server</a:t>
            </a:r>
            <a:endParaRPr lang="en-US" sz="1600" dirty="0"/>
          </a:p>
        </p:txBody>
      </p:sp>
      <p:sp>
        <p:nvSpPr>
          <p:cNvPr id="24" name="Text 18"/>
          <p:cNvSpPr/>
          <p:nvPr/>
        </p:nvSpPr>
        <p:spPr>
          <a:xfrm>
            <a:off x="9107424" y="345643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リレーショナル</a:t>
            </a:r>
            <a:endParaRPr lang="en-US" sz="1100" dirty="0"/>
          </a:p>
        </p:txBody>
      </p:sp>
      <p:sp>
        <p:nvSpPr>
          <p:cNvPr id="25" name="Shape 19"/>
          <p:cNvSpPr/>
          <p:nvPr/>
        </p:nvSpPr>
        <p:spPr>
          <a:xfrm>
            <a:off x="594360" y="4114800"/>
            <a:ext cx="2606040" cy="1965960"/>
          </a:xfrm>
          <a:prstGeom prst="rect">
            <a:avLst/>
          </a:prstGeom>
          <a:solidFill>
            <a:srgbClr val="1E2761"/>
          </a:solidFill>
          <a:ln/>
        </p:spPr>
      </p:sp>
      <p:sp>
        <p:nvSpPr>
          <p:cNvPr id="26" name="Shape 20"/>
          <p:cNvSpPr/>
          <p:nvPr/>
        </p:nvSpPr>
        <p:spPr>
          <a:xfrm>
            <a:off x="1531620" y="4370832"/>
            <a:ext cx="731520" cy="731520"/>
          </a:xfrm>
          <a:prstGeom prst="ellipse">
            <a:avLst/>
          </a:prstGeom>
          <a:solidFill>
            <a:srgbClr val="2C3680"/>
          </a:solidFill>
          <a:ln/>
        </p:spPr>
      </p:sp>
      <p:pic>
        <p:nvPicPr>
          <p:cNvPr id="27" name="Image 4" descr="preencoded.png">    </p:cNvPr>
          <p:cNvPicPr>
            <a:picLocks noChangeAspect="1"/>
          </p:cNvPicPr>
          <p:nvPr/>
        </p:nvPicPr>
        <p:blipFill>
          <a:blip r:embed="rId5"/>
          <a:stretch>
            <a:fillRect/>
          </a:stretch>
        </p:blipFill>
        <p:spPr>
          <a:xfrm>
            <a:off x="1626718" y="4465930"/>
            <a:ext cx="541325" cy="541325"/>
          </a:xfrm>
          <a:prstGeom prst="rect">
            <a:avLst/>
          </a:prstGeom>
        </p:spPr>
      </p:pic>
      <p:sp>
        <p:nvSpPr>
          <p:cNvPr id="28" name="Text 21"/>
          <p:cNvSpPr/>
          <p:nvPr/>
        </p:nvSpPr>
        <p:spPr>
          <a:xfrm>
            <a:off x="685800" y="525780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Oracle</a:t>
            </a:r>
            <a:endParaRPr lang="en-US" sz="1600" dirty="0"/>
          </a:p>
        </p:txBody>
      </p:sp>
      <p:sp>
        <p:nvSpPr>
          <p:cNvPr id="29" name="Text 22"/>
          <p:cNvSpPr/>
          <p:nvPr/>
        </p:nvSpPr>
        <p:spPr>
          <a:xfrm>
            <a:off x="685800" y="565099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リレーショナル</a:t>
            </a:r>
            <a:endParaRPr lang="en-US" sz="1100" dirty="0"/>
          </a:p>
        </p:txBody>
      </p:sp>
      <p:sp>
        <p:nvSpPr>
          <p:cNvPr id="30" name="Shape 23"/>
          <p:cNvSpPr/>
          <p:nvPr/>
        </p:nvSpPr>
        <p:spPr>
          <a:xfrm>
            <a:off x="3401568" y="4114800"/>
            <a:ext cx="2606040" cy="1965960"/>
          </a:xfrm>
          <a:prstGeom prst="rect">
            <a:avLst/>
          </a:prstGeom>
          <a:solidFill>
            <a:srgbClr val="1E2761"/>
          </a:solidFill>
          <a:ln/>
        </p:spPr>
      </p:sp>
      <p:sp>
        <p:nvSpPr>
          <p:cNvPr id="31" name="Shape 24"/>
          <p:cNvSpPr/>
          <p:nvPr/>
        </p:nvSpPr>
        <p:spPr>
          <a:xfrm>
            <a:off x="4338828" y="4370832"/>
            <a:ext cx="731520" cy="731520"/>
          </a:xfrm>
          <a:prstGeom prst="ellipse">
            <a:avLst/>
          </a:prstGeom>
          <a:solidFill>
            <a:srgbClr val="2C3680"/>
          </a:solidFill>
          <a:ln/>
        </p:spPr>
      </p:sp>
      <p:pic>
        <p:nvPicPr>
          <p:cNvPr id="32" name="Image 5" descr="preencoded.png">    </p:cNvPr>
          <p:cNvPicPr>
            <a:picLocks noChangeAspect="1"/>
          </p:cNvPicPr>
          <p:nvPr/>
        </p:nvPicPr>
        <p:blipFill>
          <a:blip r:embed="rId6"/>
          <a:stretch>
            <a:fillRect/>
          </a:stretch>
        </p:blipFill>
        <p:spPr>
          <a:xfrm>
            <a:off x="4433926" y="4465930"/>
            <a:ext cx="541325" cy="541325"/>
          </a:xfrm>
          <a:prstGeom prst="rect">
            <a:avLst/>
          </a:prstGeom>
        </p:spPr>
      </p:pic>
      <p:sp>
        <p:nvSpPr>
          <p:cNvPr id="33" name="Text 25"/>
          <p:cNvSpPr/>
          <p:nvPr/>
        </p:nvSpPr>
        <p:spPr>
          <a:xfrm>
            <a:off x="3493008" y="525780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SQLite</a:t>
            </a:r>
            <a:endParaRPr lang="en-US" sz="1600" dirty="0"/>
          </a:p>
        </p:txBody>
      </p:sp>
      <p:sp>
        <p:nvSpPr>
          <p:cNvPr id="34" name="Text 26"/>
          <p:cNvSpPr/>
          <p:nvPr/>
        </p:nvSpPr>
        <p:spPr>
          <a:xfrm>
            <a:off x="3493008" y="565099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組込み</a:t>
            </a:r>
            <a:endParaRPr lang="en-US" sz="1100" dirty="0"/>
          </a:p>
        </p:txBody>
      </p:sp>
      <p:sp>
        <p:nvSpPr>
          <p:cNvPr id="35" name="Shape 27"/>
          <p:cNvSpPr/>
          <p:nvPr/>
        </p:nvSpPr>
        <p:spPr>
          <a:xfrm>
            <a:off x="6208776" y="4114800"/>
            <a:ext cx="2606040" cy="1965960"/>
          </a:xfrm>
          <a:prstGeom prst="rect">
            <a:avLst/>
          </a:prstGeom>
          <a:solidFill>
            <a:srgbClr val="1E2761"/>
          </a:solidFill>
          <a:ln/>
        </p:spPr>
      </p:sp>
      <p:sp>
        <p:nvSpPr>
          <p:cNvPr id="36" name="Shape 28"/>
          <p:cNvSpPr/>
          <p:nvPr/>
        </p:nvSpPr>
        <p:spPr>
          <a:xfrm>
            <a:off x="7146036" y="4370832"/>
            <a:ext cx="731520" cy="731520"/>
          </a:xfrm>
          <a:prstGeom prst="ellipse">
            <a:avLst/>
          </a:prstGeom>
          <a:solidFill>
            <a:srgbClr val="2C3680"/>
          </a:solidFill>
          <a:ln/>
        </p:spPr>
      </p:sp>
      <p:pic>
        <p:nvPicPr>
          <p:cNvPr id="37" name="Image 6" descr="preencoded.png">    </p:cNvPr>
          <p:cNvPicPr>
            <a:picLocks noChangeAspect="1"/>
          </p:cNvPicPr>
          <p:nvPr/>
        </p:nvPicPr>
        <p:blipFill>
          <a:blip r:embed="rId7"/>
          <a:stretch>
            <a:fillRect/>
          </a:stretch>
        </p:blipFill>
        <p:spPr>
          <a:xfrm>
            <a:off x="7241134" y="4465930"/>
            <a:ext cx="541325" cy="541325"/>
          </a:xfrm>
          <a:prstGeom prst="rect">
            <a:avLst/>
          </a:prstGeom>
        </p:spPr>
      </p:pic>
      <p:sp>
        <p:nvSpPr>
          <p:cNvPr id="38" name="Text 29"/>
          <p:cNvSpPr/>
          <p:nvPr/>
        </p:nvSpPr>
        <p:spPr>
          <a:xfrm>
            <a:off x="6300216" y="525780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MongoDB</a:t>
            </a:r>
            <a:endParaRPr lang="en-US" sz="1600" dirty="0"/>
          </a:p>
        </p:txBody>
      </p:sp>
      <p:sp>
        <p:nvSpPr>
          <p:cNvPr id="39" name="Text 30"/>
          <p:cNvSpPr/>
          <p:nvPr/>
        </p:nvSpPr>
        <p:spPr>
          <a:xfrm>
            <a:off x="6300216" y="565099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ドキュメント指向</a:t>
            </a:r>
            <a:endParaRPr lang="en-US" sz="1100" dirty="0"/>
          </a:p>
        </p:txBody>
      </p:sp>
      <p:sp>
        <p:nvSpPr>
          <p:cNvPr id="40" name="Shape 31"/>
          <p:cNvSpPr/>
          <p:nvPr/>
        </p:nvSpPr>
        <p:spPr>
          <a:xfrm>
            <a:off x="9015984" y="4114800"/>
            <a:ext cx="2606040" cy="1965960"/>
          </a:xfrm>
          <a:prstGeom prst="rect">
            <a:avLst/>
          </a:prstGeom>
          <a:solidFill>
            <a:srgbClr val="1E2761"/>
          </a:solidFill>
          <a:ln/>
        </p:spPr>
      </p:sp>
      <p:sp>
        <p:nvSpPr>
          <p:cNvPr id="41" name="Shape 32"/>
          <p:cNvSpPr/>
          <p:nvPr/>
        </p:nvSpPr>
        <p:spPr>
          <a:xfrm>
            <a:off x="9953244" y="4370832"/>
            <a:ext cx="731520" cy="731520"/>
          </a:xfrm>
          <a:prstGeom prst="ellipse">
            <a:avLst/>
          </a:prstGeom>
          <a:solidFill>
            <a:srgbClr val="2C3680"/>
          </a:solidFill>
          <a:ln/>
        </p:spPr>
      </p:sp>
      <p:pic>
        <p:nvPicPr>
          <p:cNvPr id="42" name="Image 7" descr="preencoded.png">    </p:cNvPr>
          <p:cNvPicPr>
            <a:picLocks noChangeAspect="1"/>
          </p:cNvPicPr>
          <p:nvPr/>
        </p:nvPicPr>
        <p:blipFill>
          <a:blip r:embed="rId8"/>
          <a:stretch>
            <a:fillRect/>
          </a:stretch>
        </p:blipFill>
        <p:spPr>
          <a:xfrm>
            <a:off x="10048342" y="4465930"/>
            <a:ext cx="541325" cy="541325"/>
          </a:xfrm>
          <a:prstGeom prst="rect">
            <a:avLst/>
          </a:prstGeom>
        </p:spPr>
      </p:pic>
      <p:sp>
        <p:nvSpPr>
          <p:cNvPr id="43" name="Text 33"/>
          <p:cNvSpPr/>
          <p:nvPr/>
        </p:nvSpPr>
        <p:spPr>
          <a:xfrm>
            <a:off x="9107424" y="5257800"/>
            <a:ext cx="242316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Redis</a:t>
            </a:r>
            <a:endParaRPr lang="en-US" sz="1600" dirty="0"/>
          </a:p>
        </p:txBody>
      </p:sp>
      <p:sp>
        <p:nvSpPr>
          <p:cNvPr id="44" name="Text 34"/>
          <p:cNvSpPr/>
          <p:nvPr/>
        </p:nvSpPr>
        <p:spPr>
          <a:xfrm>
            <a:off x="9107424" y="5650992"/>
            <a:ext cx="24231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インメモリKVS</a:t>
            </a:r>
            <a:endParaRPr lang="en-US" sz="1100" dirty="0"/>
          </a:p>
        </p:txBody>
      </p:sp>
      <p:sp>
        <p:nvSpPr>
          <p:cNvPr id="46" name="Text 35"/>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685800"/>
            <a:ext cx="91440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システム構成</a:t>
            </a:r>
            <a:endParaRPr lang="en-US" sz="3200" dirty="0"/>
          </a:p>
        </p:txBody>
      </p:sp>
      <p:sp>
        <p:nvSpPr>
          <p:cNvPr id="4" name="Shape 2"/>
          <p:cNvSpPr/>
          <p:nvPr/>
        </p:nvSpPr>
        <p:spPr>
          <a:xfrm>
            <a:off x="777240" y="2103120"/>
            <a:ext cx="3200400" cy="2377440"/>
          </a:xfrm>
          <a:prstGeom prst="rect">
            <a:avLst/>
          </a:prstGeom>
          <a:solidFill>
            <a:srgbClr val="1E2761"/>
          </a:solidFill>
          <a:ln/>
        </p:spPr>
      </p:sp>
      <p:sp>
        <p:nvSpPr>
          <p:cNvPr id="5" name="Shape 3"/>
          <p:cNvSpPr/>
          <p:nvPr/>
        </p:nvSpPr>
        <p:spPr>
          <a:xfrm>
            <a:off x="1965960" y="2423160"/>
            <a:ext cx="822960" cy="822960"/>
          </a:xfrm>
          <a:prstGeom prst="ellipse">
            <a:avLst/>
          </a:prstGeom>
          <a:solidFill>
            <a:srgbClr val="2C3680"/>
          </a:solidFill>
          <a:ln/>
        </p:spPr>
      </p:sp>
      <p:pic>
        <p:nvPicPr>
          <p:cNvPr id="6" name="Image 0" descr="preencoded.png">    </p:cNvPr>
          <p:cNvPicPr>
            <a:picLocks noChangeAspect="1"/>
          </p:cNvPicPr>
          <p:nvPr/>
        </p:nvPicPr>
        <p:blipFill>
          <a:blip r:embed="rId1"/>
          <a:stretch>
            <a:fillRect/>
          </a:stretch>
        </p:blipFill>
        <p:spPr>
          <a:xfrm>
            <a:off x="2072945" y="2530145"/>
            <a:ext cx="608990" cy="608990"/>
          </a:xfrm>
          <a:prstGeom prst="rect">
            <a:avLst/>
          </a:prstGeom>
        </p:spPr>
      </p:pic>
      <p:sp>
        <p:nvSpPr>
          <p:cNvPr id="7" name="Text 4"/>
          <p:cNvSpPr/>
          <p:nvPr/>
        </p:nvSpPr>
        <p:spPr>
          <a:xfrm>
            <a:off x="914400" y="3429000"/>
            <a:ext cx="292608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NeoDbStudio.Client</a:t>
            </a:r>
            <a:endParaRPr lang="en-US" sz="1500" dirty="0"/>
          </a:p>
        </p:txBody>
      </p:sp>
      <p:sp>
        <p:nvSpPr>
          <p:cNvPr id="8" name="Text 5"/>
          <p:cNvSpPr/>
          <p:nvPr/>
        </p:nvSpPr>
        <p:spPr>
          <a:xfrm>
            <a:off x="914400" y="3794760"/>
            <a:ext cx="2926080" cy="59436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WPF (.NET 8)</a:t>
            </a:r>
            <a:endParaRPr lang="en-US" sz="1150" dirty="0"/>
          </a:p>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デスクトップUI</a:t>
            </a:r>
            <a:endParaRPr lang="en-US" sz="1150" dirty="0"/>
          </a:p>
        </p:txBody>
      </p:sp>
      <p:sp>
        <p:nvSpPr>
          <p:cNvPr id="9" name="Shape 6"/>
          <p:cNvSpPr/>
          <p:nvPr/>
        </p:nvSpPr>
        <p:spPr>
          <a:xfrm>
            <a:off x="3977640" y="2788920"/>
            <a:ext cx="777240" cy="1005840"/>
          </a:xfrm>
          <a:prstGeom prst="rect">
            <a:avLst/>
          </a:prstGeom>
          <a:solidFill>
            <a:srgbClr val="F4F7FF"/>
          </a:solidFill>
          <a:ln w="12700">
            <a:solidFill>
              <a:srgbClr val="1E2761"/>
            </a:solidFill>
            <a:prstDash val="dash"/>
          </a:ln>
        </p:spPr>
      </p:sp>
      <p:sp>
        <p:nvSpPr>
          <p:cNvPr id="10" name="Text 7"/>
          <p:cNvSpPr/>
          <p:nvPr/>
        </p:nvSpPr>
        <p:spPr>
          <a:xfrm>
            <a:off x="3703320" y="2926080"/>
            <a:ext cx="1325880" cy="320040"/>
          </a:xfrm>
          <a:prstGeom prst="rect">
            <a:avLst/>
          </a:prstGeom>
          <a:noFill/>
          <a:ln/>
        </p:spPr>
        <p:txBody>
          <a:bodyPr wrap="square" rtlCol="0" anchor="ctr"/>
          <a:lstStyle/>
          <a:p>
            <a:pPr algn="ctr" indent="0" marL="0">
              <a:buNone/>
            </a:pPr>
            <a:r>
              <a:rPr lang="en-US" sz="1200" b="1" dirty="0">
                <a:solidFill>
                  <a:srgbClr val="1E2761"/>
                </a:solidFill>
                <a:latin typeface="Consolas" pitchFamily="34" charset="0"/>
                <a:ea typeface="Consolas" pitchFamily="34" charset="-122"/>
                <a:cs typeface="Consolas" pitchFamily="34" charset="-120"/>
              </a:rPr>
              <a:t>gRPC</a:t>
            </a:r>
            <a:endParaRPr lang="en-US" sz="1200" dirty="0"/>
          </a:p>
        </p:txBody>
      </p:sp>
      <p:sp>
        <p:nvSpPr>
          <p:cNvPr id="11" name="Text 8"/>
          <p:cNvSpPr/>
          <p:nvPr/>
        </p:nvSpPr>
        <p:spPr>
          <a:xfrm>
            <a:off x="3703320" y="3246120"/>
            <a:ext cx="1325880" cy="274320"/>
          </a:xfrm>
          <a:prstGeom prst="rect">
            <a:avLst/>
          </a:prstGeom>
          <a:noFill/>
          <a:ln/>
        </p:spPr>
        <p:txBody>
          <a:bodyPr wrap="square" rtlCol="0" anchor="ctr"/>
          <a:lstStyle/>
          <a:p>
            <a:pPr algn="ctr" indent="0" marL="0">
              <a:buNone/>
            </a:pPr>
            <a:r>
              <a:rPr lang="en-US" sz="1000" dirty="0">
                <a:solidFill>
                  <a:srgbClr val="5B6480"/>
                </a:solidFill>
                <a:latin typeface="Calibri" pitchFamily="34" charset="0"/>
                <a:ea typeface="Calibri" pitchFamily="34" charset="-122"/>
                <a:cs typeface="Calibri" pitchFamily="34" charset="-120"/>
              </a:rPr>
              <a:t>HTTP/2</a:t>
            </a:r>
            <a:endParaRPr lang="en-US" sz="1000" dirty="0"/>
          </a:p>
        </p:txBody>
      </p:sp>
      <p:sp>
        <p:nvSpPr>
          <p:cNvPr id="12" name="Shape 9"/>
          <p:cNvSpPr/>
          <p:nvPr/>
        </p:nvSpPr>
        <p:spPr>
          <a:xfrm>
            <a:off x="4754880" y="2103120"/>
            <a:ext cx="3200400" cy="2377440"/>
          </a:xfrm>
          <a:prstGeom prst="rect">
            <a:avLst/>
          </a:prstGeom>
          <a:solidFill>
            <a:srgbClr val="1E2761"/>
          </a:solidFill>
          <a:ln/>
        </p:spPr>
      </p:sp>
      <p:sp>
        <p:nvSpPr>
          <p:cNvPr id="13" name="Shape 10"/>
          <p:cNvSpPr/>
          <p:nvPr/>
        </p:nvSpPr>
        <p:spPr>
          <a:xfrm>
            <a:off x="5943600" y="2423160"/>
            <a:ext cx="822960" cy="822960"/>
          </a:xfrm>
          <a:prstGeom prst="ellipse">
            <a:avLst/>
          </a:prstGeom>
          <a:solidFill>
            <a:srgbClr val="2C3680"/>
          </a:solidFill>
          <a:ln/>
        </p:spPr>
      </p:sp>
      <p:pic>
        <p:nvPicPr>
          <p:cNvPr id="14" name="Image 1" descr="preencoded.png">    </p:cNvPr>
          <p:cNvPicPr>
            <a:picLocks noChangeAspect="1"/>
          </p:cNvPicPr>
          <p:nvPr/>
        </p:nvPicPr>
        <p:blipFill>
          <a:blip r:embed="rId2"/>
          <a:stretch>
            <a:fillRect/>
          </a:stretch>
        </p:blipFill>
        <p:spPr>
          <a:xfrm>
            <a:off x="6050585" y="2530145"/>
            <a:ext cx="608990" cy="608990"/>
          </a:xfrm>
          <a:prstGeom prst="rect">
            <a:avLst/>
          </a:prstGeom>
        </p:spPr>
      </p:pic>
      <p:sp>
        <p:nvSpPr>
          <p:cNvPr id="15" name="Text 11"/>
          <p:cNvSpPr/>
          <p:nvPr/>
        </p:nvSpPr>
        <p:spPr>
          <a:xfrm>
            <a:off x="4892040" y="3429000"/>
            <a:ext cx="292608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NeoDbStudio.Api</a:t>
            </a:r>
            <a:endParaRPr lang="en-US" sz="1500" dirty="0"/>
          </a:p>
        </p:txBody>
      </p:sp>
      <p:sp>
        <p:nvSpPr>
          <p:cNvPr id="16" name="Text 12"/>
          <p:cNvSpPr/>
          <p:nvPr/>
        </p:nvSpPr>
        <p:spPr>
          <a:xfrm>
            <a:off x="4892040" y="3794760"/>
            <a:ext cx="2926080" cy="59436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ASP.NET Core</a:t>
            </a:r>
            <a:endParaRPr lang="en-US" sz="1150" dirty="0"/>
          </a:p>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各DBMSへ接続</a:t>
            </a:r>
            <a:endParaRPr lang="en-US" sz="1150" dirty="0"/>
          </a:p>
        </p:txBody>
      </p:sp>
      <p:sp>
        <p:nvSpPr>
          <p:cNvPr id="17" name="Text 13"/>
          <p:cNvSpPr/>
          <p:nvPr/>
        </p:nvSpPr>
        <p:spPr>
          <a:xfrm>
            <a:off x="777240" y="4892040"/>
            <a:ext cx="10515600" cy="365760"/>
          </a:xfrm>
          <a:prstGeom prst="rect">
            <a:avLst/>
          </a:prstGeom>
          <a:noFill/>
          <a:ln/>
        </p:spPr>
        <p:txBody>
          <a:bodyPr wrap="square" rtlCol="0" anchor="ctr"/>
          <a:lstStyle/>
          <a:p>
            <a:pPr indent="0" marL="0">
              <a:buNone/>
            </a:pPr>
            <a:r>
              <a:rPr lang="en-US" sz="1300" i="1" dirty="0">
                <a:solidFill>
                  <a:srgbClr val="5B6480"/>
                </a:solidFill>
                <a:latin typeface="Calibri" pitchFamily="34" charset="0"/>
                <a:ea typeface="Calibri" pitchFamily="34" charset="-122"/>
                <a:cs typeface="Calibri" pitchFamily="34" charset="-120"/>
              </a:rPr>
              <a:t>子プロセスとして API を自動起動 → プロジェクト全体は3アセンブリ構成（Client / Api / Shared）</a:t>
            </a:r>
            <a:endParaRPr lang="en-US" sz="1300" dirty="0"/>
          </a:p>
        </p:txBody>
      </p:sp>
      <p:sp>
        <p:nvSpPr>
          <p:cNvPr id="18" name="Shape 14"/>
          <p:cNvSpPr/>
          <p:nvPr/>
        </p:nvSpPr>
        <p:spPr>
          <a:xfrm>
            <a:off x="777240" y="5486400"/>
            <a:ext cx="548640" cy="54864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848563" y="5557723"/>
            <a:ext cx="405994" cy="405994"/>
          </a:xfrm>
          <a:prstGeom prst="rect">
            <a:avLst/>
          </a:prstGeom>
        </p:spPr>
      </p:pic>
      <p:sp>
        <p:nvSpPr>
          <p:cNvPr id="20" name="Text 15"/>
          <p:cNvSpPr/>
          <p:nvPr/>
        </p:nvSpPr>
        <p:spPr>
          <a:xfrm>
            <a:off x="1463040" y="5504688"/>
            <a:ext cx="9601200" cy="502920"/>
          </a:xfrm>
          <a:prstGeom prst="rect">
            <a:avLst/>
          </a:prstGeom>
          <a:noFill/>
          <a:ln/>
        </p:spPr>
        <p:txBody>
          <a:bodyPr wrap="square" rtlCol="0" anchor="ctr"/>
          <a:lstStyle/>
          <a:p>
            <a:pPr indent="0" marL="0">
              <a:buNone/>
            </a:pPr>
            <a:r>
              <a:rPr lang="en-US" sz="1250" dirty="0">
                <a:solidFill>
                  <a:srgbClr val="20264A"/>
                </a:solidFill>
                <a:latin typeface="Calibri" pitchFamily="34" charset="0"/>
                <a:ea typeface="Calibri" pitchFamily="34" charset="-122"/>
                <a:cs typeface="Calibri" pitchFamily="34" charset="-120"/>
              </a:rPr>
              <a:t>MSAGL（グラフ自動レイアウト）／ ClosedXML（Excel出力）／ DPAPI（暗号化）などの外部ライブラリを活用</a:t>
            </a:r>
            <a:endParaRPr lang="en-US" sz="1250" dirty="0"/>
          </a:p>
        </p:txBody>
      </p:sp>
      <p:sp>
        <p:nvSpPr>
          <p:cNvPr id="22" name="Text 16"/>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①</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接続とスキーマ閲覧</a:t>
            </a:r>
            <a:endParaRPr lang="en-US" sz="2800" dirty="0"/>
          </a:p>
        </p:txBody>
      </p:sp>
      <p:sp>
        <p:nvSpPr>
          <p:cNvPr id="6" name="Shape 3"/>
          <p:cNvSpPr/>
          <p:nvPr/>
        </p:nvSpPr>
        <p:spPr>
          <a:xfrm>
            <a:off x="548640" y="2423160"/>
            <a:ext cx="11064240" cy="3794760"/>
          </a:xfrm>
          <a:prstGeom prst="rect">
            <a:avLst/>
          </a:prstGeom>
          <a:solidFill>
            <a:srgbClr val="F4F7FF"/>
          </a:solidFill>
          <a:ln/>
        </p:spPr>
      </p:sp>
      <p:sp>
        <p:nvSpPr>
          <p:cNvPr id="7" name="Shape 4"/>
          <p:cNvSpPr/>
          <p:nvPr/>
        </p:nvSpPr>
        <p:spPr>
          <a:xfrm>
            <a:off x="914400" y="3108960"/>
            <a:ext cx="2331720" cy="1280160"/>
          </a:xfrm>
          <a:prstGeom prst="rect">
            <a:avLst/>
          </a:prstGeom>
          <a:solidFill>
            <a:srgbClr val="FFFFFF"/>
          </a:solidFill>
          <a:ln w="19050">
            <a:solidFill>
              <a:srgbClr val="CADCFC"/>
            </a:solidFill>
            <a:prstDash val="solid"/>
          </a:ln>
          <a:effectLst>
            <a:outerShdw sx="100000" sy="100000" kx="0" ky="0" algn="bl" rotWithShape="0" blurRad="63500" dist="25400" dir="5400000">
              <a:srgbClr val="1E2761">
                <a:alpha val="10000"/>
              </a:srgbClr>
            </a:outerShdw>
          </a:effectLst>
        </p:spPr>
      </p:sp>
      <p:sp>
        <p:nvSpPr>
          <p:cNvPr id="8" name="Text 5"/>
          <p:cNvSpPr/>
          <p:nvPr/>
        </p:nvSpPr>
        <p:spPr>
          <a:xfrm>
            <a:off x="1024128" y="3200400"/>
            <a:ext cx="54864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1024128" y="3520440"/>
            <a:ext cx="2103120" cy="777240"/>
          </a:xfrm>
          <a:prstGeom prst="rect">
            <a:avLst/>
          </a:prstGeom>
          <a:noFill/>
          <a:ln/>
        </p:spPr>
        <p:txBody>
          <a:bodyPr wrap="square" rtlCol="0" anchor="t"/>
          <a:lstStyle/>
          <a:p>
            <a:pPr indent="0" marL="0">
              <a:buNone/>
            </a:pPr>
            <a:r>
              <a:rPr lang="en-US" sz="1250" dirty="0">
                <a:solidFill>
                  <a:srgbClr val="20264A"/>
                </a:solidFill>
                <a:latin typeface="Calibri" pitchFamily="34" charset="0"/>
                <a:ea typeface="Calibri" pitchFamily="34" charset="-122"/>
                <a:cs typeface="Calibri" pitchFamily="34" charset="-120"/>
              </a:rPr>
              <a:t>接続プロファイル作成</a:t>
            </a:r>
            <a:endParaRPr lang="en-US" sz="1250" dirty="0"/>
          </a:p>
        </p:txBody>
      </p:sp>
      <p:sp>
        <p:nvSpPr>
          <p:cNvPr id="10" name="Text 7"/>
          <p:cNvSpPr/>
          <p:nvPr/>
        </p:nvSpPr>
        <p:spPr>
          <a:xfrm>
            <a:off x="3246120" y="3429000"/>
            <a:ext cx="365760" cy="548640"/>
          </a:xfrm>
          <a:prstGeom prst="rect">
            <a:avLst/>
          </a:prstGeom>
          <a:noFill/>
          <a:ln/>
        </p:spPr>
        <p:txBody>
          <a:bodyPr wrap="square" rtlCol="0" anchor="ctr"/>
          <a:lstStyle/>
          <a:p>
            <a:pPr algn="ctr" indent="0" marL="0">
              <a:buNone/>
            </a:pPr>
            <a:r>
              <a:rPr lang="en-US" sz="2000" dirty="0">
                <a:solidFill>
                  <a:srgbClr val="1E2761"/>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611880" y="3108960"/>
            <a:ext cx="2331720" cy="1280160"/>
          </a:xfrm>
          <a:prstGeom prst="rect">
            <a:avLst/>
          </a:prstGeom>
          <a:solidFill>
            <a:srgbClr val="FFFFFF"/>
          </a:solidFill>
          <a:ln w="19050">
            <a:solidFill>
              <a:srgbClr val="CADCFC"/>
            </a:solidFill>
            <a:prstDash val="solid"/>
          </a:ln>
          <a:effectLst>
            <a:outerShdw sx="100000" sy="100000" kx="0" ky="0" algn="bl" rotWithShape="0" blurRad="63500" dist="25400" dir="5400000">
              <a:srgbClr val="1E2761">
                <a:alpha val="10000"/>
              </a:srgbClr>
            </a:outerShdw>
          </a:effectLst>
        </p:spPr>
      </p:sp>
      <p:sp>
        <p:nvSpPr>
          <p:cNvPr id="12" name="Text 9"/>
          <p:cNvSpPr/>
          <p:nvPr/>
        </p:nvSpPr>
        <p:spPr>
          <a:xfrm>
            <a:off x="3721608" y="3200400"/>
            <a:ext cx="54864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3" name="Text 10"/>
          <p:cNvSpPr/>
          <p:nvPr/>
        </p:nvSpPr>
        <p:spPr>
          <a:xfrm>
            <a:off x="3721608" y="3520440"/>
            <a:ext cx="2103120" cy="777240"/>
          </a:xfrm>
          <a:prstGeom prst="rect">
            <a:avLst/>
          </a:prstGeom>
          <a:noFill/>
          <a:ln/>
        </p:spPr>
        <p:txBody>
          <a:bodyPr wrap="square" rtlCol="0" anchor="t"/>
          <a:lstStyle/>
          <a:p>
            <a:pPr indent="0" marL="0">
              <a:buNone/>
            </a:pPr>
            <a:r>
              <a:rPr lang="en-US" sz="1250" dirty="0">
                <a:solidFill>
                  <a:srgbClr val="20264A"/>
                </a:solidFill>
                <a:latin typeface="Calibri" pitchFamily="34" charset="0"/>
                <a:ea typeface="Calibri" pitchFamily="34" charset="-122"/>
                <a:cs typeface="Calibri" pitchFamily="34" charset="-120"/>
              </a:rPr>
              <a:t>SSHトンネル対応</a:t>
            </a:r>
            <a:endParaRPr lang="en-US" sz="1250" dirty="0"/>
          </a:p>
        </p:txBody>
      </p:sp>
      <p:sp>
        <p:nvSpPr>
          <p:cNvPr id="14" name="Text 11"/>
          <p:cNvSpPr/>
          <p:nvPr/>
        </p:nvSpPr>
        <p:spPr>
          <a:xfrm>
            <a:off x="5943600" y="3429000"/>
            <a:ext cx="365760" cy="548640"/>
          </a:xfrm>
          <a:prstGeom prst="rect">
            <a:avLst/>
          </a:prstGeom>
          <a:noFill/>
          <a:ln/>
        </p:spPr>
        <p:txBody>
          <a:bodyPr wrap="square" rtlCol="0" anchor="ctr"/>
          <a:lstStyle/>
          <a:p>
            <a:pPr algn="ctr" indent="0" marL="0">
              <a:buNone/>
            </a:pPr>
            <a:r>
              <a:rPr lang="en-US" sz="2000" dirty="0">
                <a:solidFill>
                  <a:srgbClr val="1E2761"/>
                </a:solidFill>
                <a:latin typeface="Arial" pitchFamily="34" charset="0"/>
                <a:ea typeface="Arial" pitchFamily="34" charset="-122"/>
                <a:cs typeface="Arial" pitchFamily="34" charset="-120"/>
              </a:rPr>
              <a:t>→</a:t>
            </a:r>
            <a:endParaRPr lang="en-US" sz="2000" dirty="0"/>
          </a:p>
        </p:txBody>
      </p:sp>
      <p:sp>
        <p:nvSpPr>
          <p:cNvPr id="15" name="Shape 12"/>
          <p:cNvSpPr/>
          <p:nvPr/>
        </p:nvSpPr>
        <p:spPr>
          <a:xfrm>
            <a:off x="6309360" y="3108960"/>
            <a:ext cx="2331720" cy="1280160"/>
          </a:xfrm>
          <a:prstGeom prst="rect">
            <a:avLst/>
          </a:prstGeom>
          <a:solidFill>
            <a:srgbClr val="FFFFFF"/>
          </a:solidFill>
          <a:ln w="19050">
            <a:solidFill>
              <a:srgbClr val="CADCFC"/>
            </a:solidFill>
            <a:prstDash val="solid"/>
          </a:ln>
          <a:effectLst>
            <a:outerShdw sx="100000" sy="100000" kx="0" ky="0" algn="bl" rotWithShape="0" blurRad="63500" dist="25400" dir="5400000">
              <a:srgbClr val="1E2761">
                <a:alpha val="10000"/>
              </a:srgbClr>
            </a:outerShdw>
          </a:effectLst>
        </p:spPr>
      </p:sp>
      <p:sp>
        <p:nvSpPr>
          <p:cNvPr id="16" name="Text 13"/>
          <p:cNvSpPr/>
          <p:nvPr/>
        </p:nvSpPr>
        <p:spPr>
          <a:xfrm>
            <a:off x="6419088" y="3200400"/>
            <a:ext cx="54864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7" name="Text 14"/>
          <p:cNvSpPr/>
          <p:nvPr/>
        </p:nvSpPr>
        <p:spPr>
          <a:xfrm>
            <a:off x="6419088" y="3520440"/>
            <a:ext cx="2103120" cy="777240"/>
          </a:xfrm>
          <a:prstGeom prst="rect">
            <a:avLst/>
          </a:prstGeom>
          <a:noFill/>
          <a:ln/>
        </p:spPr>
        <p:txBody>
          <a:bodyPr wrap="square" rtlCol="0" anchor="t"/>
          <a:lstStyle/>
          <a:p>
            <a:pPr indent="0" marL="0">
              <a:buNone/>
            </a:pPr>
            <a:r>
              <a:rPr lang="en-US" sz="1250" dirty="0">
                <a:solidFill>
                  <a:srgbClr val="20264A"/>
                </a:solidFill>
                <a:latin typeface="Calibri" pitchFamily="34" charset="0"/>
                <a:ea typeface="Calibri" pitchFamily="34" charset="-122"/>
                <a:cs typeface="Calibri" pitchFamily="34" charset="-120"/>
              </a:rPr>
              <a:t>スキーマ自動取得</a:t>
            </a:r>
            <a:endParaRPr lang="en-US" sz="1250" dirty="0"/>
          </a:p>
        </p:txBody>
      </p:sp>
      <p:sp>
        <p:nvSpPr>
          <p:cNvPr id="18" name="Text 15"/>
          <p:cNvSpPr/>
          <p:nvPr/>
        </p:nvSpPr>
        <p:spPr>
          <a:xfrm>
            <a:off x="8641080" y="3429000"/>
            <a:ext cx="365760" cy="548640"/>
          </a:xfrm>
          <a:prstGeom prst="rect">
            <a:avLst/>
          </a:prstGeom>
          <a:noFill/>
          <a:ln/>
        </p:spPr>
        <p:txBody>
          <a:bodyPr wrap="square" rtlCol="0" anchor="ctr"/>
          <a:lstStyle/>
          <a:p>
            <a:pPr algn="ctr" indent="0" marL="0">
              <a:buNone/>
            </a:pPr>
            <a:r>
              <a:rPr lang="en-US" sz="2000" dirty="0">
                <a:solidFill>
                  <a:srgbClr val="1E2761"/>
                </a:solidFill>
                <a:latin typeface="Arial" pitchFamily="34" charset="0"/>
                <a:ea typeface="Arial" pitchFamily="34" charset="-122"/>
                <a:cs typeface="Arial" pitchFamily="34" charset="-120"/>
              </a:rPr>
              <a:t>→</a:t>
            </a:r>
            <a:endParaRPr lang="en-US" sz="2000" dirty="0"/>
          </a:p>
        </p:txBody>
      </p:sp>
      <p:sp>
        <p:nvSpPr>
          <p:cNvPr id="19" name="Shape 16"/>
          <p:cNvSpPr/>
          <p:nvPr/>
        </p:nvSpPr>
        <p:spPr>
          <a:xfrm>
            <a:off x="9006840" y="3108960"/>
            <a:ext cx="2331720" cy="1280160"/>
          </a:xfrm>
          <a:prstGeom prst="rect">
            <a:avLst/>
          </a:prstGeom>
          <a:solidFill>
            <a:srgbClr val="FFFFFF"/>
          </a:solidFill>
          <a:ln w="19050">
            <a:solidFill>
              <a:srgbClr val="CADCFC"/>
            </a:solidFill>
            <a:prstDash val="solid"/>
          </a:ln>
          <a:effectLst>
            <a:outerShdw sx="100000" sy="100000" kx="0" ky="0" algn="bl" rotWithShape="0" blurRad="63500" dist="25400" dir="5400000">
              <a:srgbClr val="1E2761">
                <a:alpha val="10000"/>
              </a:srgbClr>
            </a:outerShdw>
          </a:effectLst>
        </p:spPr>
      </p:sp>
      <p:sp>
        <p:nvSpPr>
          <p:cNvPr id="20" name="Text 17"/>
          <p:cNvSpPr/>
          <p:nvPr/>
        </p:nvSpPr>
        <p:spPr>
          <a:xfrm>
            <a:off x="9116568" y="3200400"/>
            <a:ext cx="54864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21" name="Text 18"/>
          <p:cNvSpPr/>
          <p:nvPr/>
        </p:nvSpPr>
        <p:spPr>
          <a:xfrm>
            <a:off x="9116568" y="3520440"/>
            <a:ext cx="2103120" cy="777240"/>
          </a:xfrm>
          <a:prstGeom prst="rect">
            <a:avLst/>
          </a:prstGeom>
          <a:noFill/>
          <a:ln/>
        </p:spPr>
        <p:txBody>
          <a:bodyPr wrap="square" rtlCol="0" anchor="t"/>
          <a:lstStyle/>
          <a:p>
            <a:pPr indent="0" marL="0">
              <a:buNone/>
            </a:pPr>
            <a:r>
              <a:rPr lang="en-US" sz="1250" dirty="0">
                <a:solidFill>
                  <a:srgbClr val="20264A"/>
                </a:solidFill>
                <a:latin typeface="Calibri" pitchFamily="34" charset="0"/>
                <a:ea typeface="Calibri" pitchFamily="34" charset="-122"/>
                <a:cs typeface="Calibri" pitchFamily="34" charset="-120"/>
              </a:rPr>
              <a:t>ツリーで一覧表示</a:t>
            </a:r>
            <a:endParaRPr lang="en-US" sz="1250" dirty="0"/>
          </a:p>
        </p:txBody>
      </p:sp>
      <p:sp>
        <p:nvSpPr>
          <p:cNvPr id="22" name="Text 19"/>
          <p:cNvSpPr/>
          <p:nvPr/>
        </p:nvSpPr>
        <p:spPr>
          <a:xfrm>
            <a:off x="914400" y="4663440"/>
            <a:ext cx="10332720" cy="1188720"/>
          </a:xfrm>
          <a:prstGeom prst="rect">
            <a:avLst/>
          </a:prstGeom>
          <a:noFill/>
          <a:ln/>
        </p:spPr>
        <p:txBody>
          <a:bodyPr wrap="square" rtlCol="0" anchor="ctr"/>
          <a:lstStyle/>
          <a:p>
            <a:pPr indent="0" marL="0">
              <a:lnSpc>
                <a:spcPct val="130000"/>
              </a:lnSpc>
              <a:buNone/>
            </a:pPr>
            <a:r>
              <a:rPr lang="en-US" sz="1400" dirty="0">
                <a:solidFill>
                  <a:srgbClr val="5B6480"/>
                </a:solidFill>
                <a:latin typeface="Calibri" pitchFamily="34" charset="0"/>
                <a:ea typeface="Calibri" pitchFamily="34" charset="-122"/>
                <a:cs typeface="Calibri" pitchFamily="34" charset="-120"/>
              </a:rPr>
              <a:t>プロジェクトファイル（.neodb）に接続情報を保存 — パスワードや接続文字列はDPAPIでファイル全体を暗号化。開発機を移すと復号できない設計で、盗み出しへの耐性を確保しています。</a:t>
            </a:r>
            <a:endParaRPr lang="en-US" sz="1400" dirty="0"/>
          </a:p>
        </p:txBody>
      </p:sp>
      <p:sp>
        <p:nvSpPr>
          <p:cNvPr id="24" name="Text 20"/>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②</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ER図の自動生成とスキーマ分割</a:t>
            </a:r>
            <a:endParaRPr lang="en-US" sz="2800" dirty="0"/>
          </a:p>
        </p:txBody>
      </p:sp>
      <p:sp>
        <p:nvSpPr>
          <p:cNvPr id="6" name="Shape 3"/>
          <p:cNvSpPr/>
          <p:nvPr/>
        </p:nvSpPr>
        <p:spPr>
          <a:xfrm>
            <a:off x="548640" y="2423160"/>
            <a:ext cx="5349240" cy="3794760"/>
          </a:xfrm>
          <a:prstGeom prst="rect">
            <a:avLst/>
          </a:prstGeom>
          <a:solidFill>
            <a:srgbClr val="1E2761"/>
          </a:solidFill>
          <a:ln/>
        </p:spPr>
      </p:sp>
      <p:sp>
        <p:nvSpPr>
          <p:cNvPr id="7" name="Shape 4"/>
          <p:cNvSpPr/>
          <p:nvPr/>
        </p:nvSpPr>
        <p:spPr>
          <a:xfrm>
            <a:off x="2286000" y="2834640"/>
            <a:ext cx="1920240" cy="1920240"/>
          </a:xfrm>
          <a:prstGeom prst="ellipse">
            <a:avLst/>
          </a:prstGeom>
          <a:solidFill>
            <a:srgbClr val="2C3680"/>
          </a:solidFill>
          <a:ln/>
        </p:spPr>
      </p:sp>
      <p:pic>
        <p:nvPicPr>
          <p:cNvPr id="8" name="Image 1" descr="preencoded.png">    </p:cNvPr>
          <p:cNvPicPr>
            <a:picLocks noChangeAspect="1"/>
          </p:cNvPicPr>
          <p:nvPr/>
        </p:nvPicPr>
        <p:blipFill>
          <a:blip r:embed="rId2"/>
          <a:stretch>
            <a:fillRect/>
          </a:stretch>
        </p:blipFill>
        <p:spPr>
          <a:xfrm>
            <a:off x="2535631" y="3084271"/>
            <a:ext cx="1420978" cy="1420978"/>
          </a:xfrm>
          <a:prstGeom prst="rect">
            <a:avLst/>
          </a:prstGeom>
        </p:spPr>
      </p:pic>
      <p:sp>
        <p:nvSpPr>
          <p:cNvPr id="9" name="Text 5"/>
          <p:cNvSpPr/>
          <p:nvPr/>
        </p:nvSpPr>
        <p:spPr>
          <a:xfrm>
            <a:off x="822960" y="4892040"/>
            <a:ext cx="48006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MSAGL による</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自動レイアウト</a:t>
            </a:r>
            <a:endParaRPr lang="en-US" sz="1400" dirty="0"/>
          </a:p>
        </p:txBody>
      </p:sp>
      <p:sp>
        <p:nvSpPr>
          <p:cNvPr id="10" name="Text 6"/>
          <p:cNvSpPr/>
          <p:nvPr/>
        </p:nvSpPr>
        <p:spPr>
          <a:xfrm>
            <a:off x="822960" y="5440680"/>
            <a:ext cx="4800600" cy="594360"/>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重なりのない綺麗なER図を、外部キー関係から自動生成</a:t>
            </a:r>
            <a:endParaRPr lang="en-US" sz="1150" dirty="0"/>
          </a:p>
        </p:txBody>
      </p:sp>
      <p:sp>
        <p:nvSpPr>
          <p:cNvPr id="11" name="Shape 7"/>
          <p:cNvSpPr/>
          <p:nvPr/>
        </p:nvSpPr>
        <p:spPr>
          <a:xfrm>
            <a:off x="6126480" y="2468880"/>
            <a:ext cx="457200" cy="457200"/>
          </a:xfrm>
          <a:prstGeom prst="ellipse">
            <a:avLst/>
          </a:prstGeom>
          <a:solidFill>
            <a:srgbClr val="1E2761"/>
          </a:solidFill>
          <a:ln/>
        </p:spPr>
      </p:sp>
      <p:pic>
        <p:nvPicPr>
          <p:cNvPr id="12" name="Image 2" descr="preencoded.png">    </p:cNvPr>
          <p:cNvPicPr>
            <a:picLocks noChangeAspect="1"/>
          </p:cNvPicPr>
          <p:nvPr/>
        </p:nvPicPr>
        <p:blipFill>
          <a:blip r:embed="rId3"/>
          <a:stretch>
            <a:fillRect/>
          </a:stretch>
        </p:blipFill>
        <p:spPr>
          <a:xfrm>
            <a:off x="6185916" y="2528316"/>
            <a:ext cx="338328" cy="338328"/>
          </a:xfrm>
          <a:prstGeom prst="rect">
            <a:avLst/>
          </a:prstGeom>
        </p:spPr>
      </p:pic>
      <p:sp>
        <p:nvSpPr>
          <p:cNvPr id="13" name="Text 8"/>
          <p:cNvSpPr/>
          <p:nvPr/>
        </p:nvSpPr>
        <p:spPr>
          <a:xfrm>
            <a:off x="6720840" y="2441448"/>
            <a:ext cx="48463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スキーマ単位で分割表示</a:t>
            </a:r>
            <a:endParaRPr lang="en-US" sz="1400" dirty="0"/>
          </a:p>
        </p:txBody>
      </p:sp>
      <p:sp>
        <p:nvSpPr>
          <p:cNvPr id="14" name="Text 9"/>
          <p:cNvSpPr/>
          <p:nvPr/>
        </p:nvSpPr>
        <p:spPr>
          <a:xfrm>
            <a:off x="6720840" y="2761488"/>
            <a:ext cx="4846320" cy="502920"/>
          </a:xfrm>
          <a:prstGeom prst="rect">
            <a:avLst/>
          </a:prstGeom>
          <a:noFill/>
          <a:ln/>
        </p:spPr>
        <p:txBody>
          <a:bodyPr wrap="square" rtlCol="0" anchor="ctr"/>
          <a:lstStyle/>
          <a:p>
            <a:pPr indent="0" marL="0">
              <a:buNone/>
            </a:pPr>
            <a:r>
              <a:rPr lang="en-US" sz="1200" dirty="0">
                <a:solidFill>
                  <a:srgbClr val="5B6480"/>
                </a:solidFill>
                <a:latin typeface="Calibri" pitchFamily="34" charset="0"/>
                <a:ea typeface="Calibri" pitchFamily="34" charset="-122"/>
                <a:cs typeface="Calibri" pitchFamily="34" charset="-120"/>
              </a:rPr>
              <a:t>全テーブルを1枚に詰め込まず、スキーマごとに切り替え</a:t>
            </a:r>
            <a:endParaRPr lang="en-US" sz="1200" dirty="0"/>
          </a:p>
        </p:txBody>
      </p:sp>
      <p:sp>
        <p:nvSpPr>
          <p:cNvPr id="15" name="Shape 10"/>
          <p:cNvSpPr/>
          <p:nvPr/>
        </p:nvSpPr>
        <p:spPr>
          <a:xfrm>
            <a:off x="6126480" y="3520440"/>
            <a:ext cx="457200" cy="457200"/>
          </a:xfrm>
          <a:prstGeom prst="ellipse">
            <a:avLst/>
          </a:prstGeom>
          <a:solidFill>
            <a:srgbClr val="1E2761"/>
          </a:solidFill>
          <a:ln/>
        </p:spPr>
      </p:sp>
      <p:pic>
        <p:nvPicPr>
          <p:cNvPr id="16" name="Image 3" descr="preencoded.png">    </p:cNvPr>
          <p:cNvPicPr>
            <a:picLocks noChangeAspect="1"/>
          </p:cNvPicPr>
          <p:nvPr/>
        </p:nvPicPr>
        <p:blipFill>
          <a:blip r:embed="rId4"/>
          <a:stretch>
            <a:fillRect/>
          </a:stretch>
        </p:blipFill>
        <p:spPr>
          <a:xfrm>
            <a:off x="6185916" y="3579876"/>
            <a:ext cx="338328" cy="338328"/>
          </a:xfrm>
          <a:prstGeom prst="rect">
            <a:avLst/>
          </a:prstGeom>
        </p:spPr>
      </p:pic>
      <p:sp>
        <p:nvSpPr>
          <p:cNvPr id="17" name="Text 11"/>
          <p:cNvSpPr/>
          <p:nvPr/>
        </p:nvSpPr>
        <p:spPr>
          <a:xfrm>
            <a:off x="6720840" y="3493008"/>
            <a:ext cx="48463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テーブルを手動で絞り込み</a:t>
            </a:r>
            <a:endParaRPr lang="en-US" sz="1400" dirty="0"/>
          </a:p>
        </p:txBody>
      </p:sp>
      <p:sp>
        <p:nvSpPr>
          <p:cNvPr id="18" name="Text 12"/>
          <p:cNvSpPr/>
          <p:nvPr/>
        </p:nvSpPr>
        <p:spPr>
          <a:xfrm>
            <a:off x="6720840" y="3813048"/>
            <a:ext cx="4846320" cy="502920"/>
          </a:xfrm>
          <a:prstGeom prst="rect">
            <a:avLst/>
          </a:prstGeom>
          <a:noFill/>
          <a:ln/>
        </p:spPr>
        <p:txBody>
          <a:bodyPr wrap="square" rtlCol="0" anchor="ctr"/>
          <a:lstStyle/>
          <a:p>
            <a:pPr indent="0" marL="0">
              <a:buNone/>
            </a:pPr>
            <a:r>
              <a:rPr lang="en-US" sz="1200" dirty="0">
                <a:solidFill>
                  <a:srgbClr val="5B6480"/>
                </a:solidFill>
                <a:latin typeface="Calibri" pitchFamily="34" charset="0"/>
                <a:ea typeface="Calibri" pitchFamily="34" charset="-122"/>
                <a:cs typeface="Calibri" pitchFamily="34" charset="-120"/>
              </a:rPr>
              <a:t>見たいテーブルだけチェックして再描画</a:t>
            </a:r>
            <a:endParaRPr lang="en-US" sz="1200" dirty="0"/>
          </a:p>
        </p:txBody>
      </p:sp>
      <p:sp>
        <p:nvSpPr>
          <p:cNvPr id="19" name="Shape 13"/>
          <p:cNvSpPr/>
          <p:nvPr/>
        </p:nvSpPr>
        <p:spPr>
          <a:xfrm>
            <a:off x="6126480" y="4572000"/>
            <a:ext cx="457200" cy="457200"/>
          </a:xfrm>
          <a:prstGeom prst="ellipse">
            <a:avLst/>
          </a:prstGeom>
          <a:solidFill>
            <a:srgbClr val="1E2761"/>
          </a:solidFill>
          <a:ln/>
        </p:spPr>
      </p:sp>
      <p:pic>
        <p:nvPicPr>
          <p:cNvPr id="20" name="Image 4" descr="preencoded.png">    </p:cNvPr>
          <p:cNvPicPr>
            <a:picLocks noChangeAspect="1"/>
          </p:cNvPicPr>
          <p:nvPr/>
        </p:nvPicPr>
        <p:blipFill>
          <a:blip r:embed="rId5"/>
          <a:stretch>
            <a:fillRect/>
          </a:stretch>
        </p:blipFill>
        <p:spPr>
          <a:xfrm>
            <a:off x="6185916" y="4631436"/>
            <a:ext cx="338328" cy="338328"/>
          </a:xfrm>
          <a:prstGeom prst="rect">
            <a:avLst/>
          </a:prstGeom>
        </p:spPr>
      </p:pic>
      <p:sp>
        <p:nvSpPr>
          <p:cNvPr id="21" name="Text 14"/>
          <p:cNvSpPr/>
          <p:nvPr/>
        </p:nvSpPr>
        <p:spPr>
          <a:xfrm>
            <a:off x="6720840" y="4544568"/>
            <a:ext cx="48463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PNGへエクスポート</a:t>
            </a:r>
            <a:endParaRPr lang="en-US" sz="1400" dirty="0"/>
          </a:p>
        </p:txBody>
      </p:sp>
      <p:sp>
        <p:nvSpPr>
          <p:cNvPr id="22" name="Text 15"/>
          <p:cNvSpPr/>
          <p:nvPr/>
        </p:nvSpPr>
        <p:spPr>
          <a:xfrm>
            <a:off x="6720840" y="4864608"/>
            <a:ext cx="4846320" cy="502920"/>
          </a:xfrm>
          <a:prstGeom prst="rect">
            <a:avLst/>
          </a:prstGeom>
          <a:noFill/>
          <a:ln/>
        </p:spPr>
        <p:txBody>
          <a:bodyPr wrap="square" rtlCol="0" anchor="ctr"/>
          <a:lstStyle/>
          <a:p>
            <a:pPr indent="0" marL="0">
              <a:buNone/>
            </a:pPr>
            <a:r>
              <a:rPr lang="en-US" sz="1200" dirty="0">
                <a:solidFill>
                  <a:srgbClr val="5B6480"/>
                </a:solidFill>
                <a:latin typeface="Calibri" pitchFamily="34" charset="0"/>
                <a:ea typeface="Calibri" pitchFamily="34" charset="-122"/>
                <a:cs typeface="Calibri" pitchFamily="34" charset="-120"/>
              </a:rPr>
              <a:t>ドキュメントや提案資料にそのまま貼り付け</a:t>
            </a:r>
            <a:endParaRPr lang="en-US" sz="1200" dirty="0"/>
          </a:p>
        </p:txBody>
      </p:sp>
      <p:sp>
        <p:nvSpPr>
          <p:cNvPr id="24" name="Text 16"/>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③</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Excelスキーマエクスポート</a:t>
            </a:r>
            <a:endParaRPr lang="en-US" sz="2800" dirty="0"/>
          </a:p>
        </p:txBody>
      </p:sp>
      <p:sp>
        <p:nvSpPr>
          <p:cNvPr id="6" name="Shape 3"/>
          <p:cNvSpPr/>
          <p:nvPr/>
        </p:nvSpPr>
        <p:spPr>
          <a:xfrm>
            <a:off x="548640" y="2468880"/>
            <a:ext cx="11064240" cy="841248"/>
          </a:xfrm>
          <a:prstGeom prst="rect">
            <a:avLst/>
          </a:prstGeom>
          <a:solidFill>
            <a:srgbClr val="F4F7FF"/>
          </a:solidFill>
          <a:ln/>
        </p:spPr>
      </p:sp>
      <p:sp>
        <p:nvSpPr>
          <p:cNvPr id="7" name="Shape 4"/>
          <p:cNvSpPr/>
          <p:nvPr/>
        </p:nvSpPr>
        <p:spPr>
          <a:xfrm>
            <a:off x="777240" y="2587752"/>
            <a:ext cx="603504" cy="603504"/>
          </a:xfrm>
          <a:prstGeom prst="ellipse">
            <a:avLst/>
          </a:prstGeom>
          <a:solidFill>
            <a:srgbClr val="1E2761"/>
          </a:solidFill>
          <a:ln/>
        </p:spPr>
      </p:sp>
      <p:pic>
        <p:nvPicPr>
          <p:cNvPr id="8" name="Image 1" descr="preencoded.png">    </p:cNvPr>
          <p:cNvPicPr>
            <a:picLocks noChangeAspect="1"/>
          </p:cNvPicPr>
          <p:nvPr/>
        </p:nvPicPr>
        <p:blipFill>
          <a:blip r:embed="rId2"/>
          <a:stretch>
            <a:fillRect/>
          </a:stretch>
        </p:blipFill>
        <p:spPr>
          <a:xfrm>
            <a:off x="855696" y="2666208"/>
            <a:ext cx="446593" cy="446593"/>
          </a:xfrm>
          <a:prstGeom prst="rect">
            <a:avLst/>
          </a:prstGeom>
        </p:spPr>
      </p:pic>
      <p:sp>
        <p:nvSpPr>
          <p:cNvPr id="9" name="Text 5"/>
          <p:cNvSpPr/>
          <p:nvPr/>
        </p:nvSpPr>
        <p:spPr>
          <a:xfrm>
            <a:off x="1600200" y="2542032"/>
            <a:ext cx="420624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接続情報</a:t>
            </a:r>
            <a:endParaRPr lang="en-US" sz="1450" dirty="0"/>
          </a:p>
        </p:txBody>
      </p:sp>
      <p:sp>
        <p:nvSpPr>
          <p:cNvPr id="10" name="Text 6"/>
          <p:cNvSpPr/>
          <p:nvPr/>
        </p:nvSpPr>
        <p:spPr>
          <a:xfrm>
            <a:off x="5943600" y="2542032"/>
            <a:ext cx="5394960" cy="694944"/>
          </a:xfrm>
          <a:prstGeom prst="rect">
            <a:avLst/>
          </a:prstGeom>
          <a:noFill/>
          <a:ln/>
        </p:spPr>
        <p:txBody>
          <a:bodyPr wrap="square" rtlCol="0" anchor="ctr"/>
          <a:lstStyle/>
          <a:p>
            <a:pPr indent="0" marL="0">
              <a:buNone/>
            </a:pPr>
            <a:r>
              <a:rPr lang="en-US" sz="1250" dirty="0">
                <a:solidFill>
                  <a:srgbClr val="5B6480"/>
                </a:solidFill>
                <a:latin typeface="Calibri" pitchFamily="34" charset="0"/>
                <a:ea typeface="Calibri" pitchFamily="34" charset="-122"/>
                <a:cs typeface="Calibri" pitchFamily="34" charset="-120"/>
              </a:rPr>
              <a:t>プロジェクト名・接続文字列（パスワード伏字）・出力日時</a:t>
            </a:r>
            <a:endParaRPr lang="en-US" sz="1250" dirty="0"/>
          </a:p>
        </p:txBody>
      </p:sp>
      <p:sp>
        <p:nvSpPr>
          <p:cNvPr id="11" name="Shape 7"/>
          <p:cNvSpPr/>
          <p:nvPr/>
        </p:nvSpPr>
        <p:spPr>
          <a:xfrm>
            <a:off x="548640" y="3429000"/>
            <a:ext cx="11064240" cy="841248"/>
          </a:xfrm>
          <a:prstGeom prst="rect">
            <a:avLst/>
          </a:prstGeom>
          <a:solidFill>
            <a:srgbClr val="FFFFFF"/>
          </a:solidFill>
          <a:ln/>
        </p:spPr>
      </p:sp>
      <p:sp>
        <p:nvSpPr>
          <p:cNvPr id="12" name="Shape 8"/>
          <p:cNvSpPr/>
          <p:nvPr/>
        </p:nvSpPr>
        <p:spPr>
          <a:xfrm>
            <a:off x="777240" y="3547872"/>
            <a:ext cx="603504" cy="603504"/>
          </a:xfrm>
          <a:prstGeom prst="ellipse">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855696" y="3626328"/>
            <a:ext cx="446593" cy="446593"/>
          </a:xfrm>
          <a:prstGeom prst="rect">
            <a:avLst/>
          </a:prstGeom>
        </p:spPr>
      </p:pic>
      <p:sp>
        <p:nvSpPr>
          <p:cNvPr id="14" name="Text 9"/>
          <p:cNvSpPr/>
          <p:nvPr/>
        </p:nvSpPr>
        <p:spPr>
          <a:xfrm>
            <a:off x="1600200" y="3502152"/>
            <a:ext cx="420624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テーブル / ビュー / ストアド一覧</a:t>
            </a:r>
            <a:endParaRPr lang="en-US" sz="1450" dirty="0"/>
          </a:p>
        </p:txBody>
      </p:sp>
      <p:sp>
        <p:nvSpPr>
          <p:cNvPr id="15" name="Text 10"/>
          <p:cNvSpPr/>
          <p:nvPr/>
        </p:nvSpPr>
        <p:spPr>
          <a:xfrm>
            <a:off x="5943600" y="3502152"/>
            <a:ext cx="5394960" cy="694944"/>
          </a:xfrm>
          <a:prstGeom prst="rect">
            <a:avLst/>
          </a:prstGeom>
          <a:noFill/>
          <a:ln/>
        </p:spPr>
        <p:txBody>
          <a:bodyPr wrap="square" rtlCol="0" anchor="ctr"/>
          <a:lstStyle/>
          <a:p>
            <a:pPr indent="0" marL="0">
              <a:buNone/>
            </a:pPr>
            <a:r>
              <a:rPr lang="en-US" sz="1250" dirty="0">
                <a:solidFill>
                  <a:srgbClr val="5B6480"/>
                </a:solidFill>
                <a:latin typeface="Calibri" pitchFamily="34" charset="0"/>
                <a:ea typeface="Calibri" pitchFamily="34" charset="-122"/>
                <a:cs typeface="Calibri" pitchFamily="34" charset="-120"/>
              </a:rPr>
              <a:t>オブジェクト種別ごとに一覧シート</a:t>
            </a:r>
            <a:endParaRPr lang="en-US" sz="1250" dirty="0"/>
          </a:p>
        </p:txBody>
      </p:sp>
      <p:sp>
        <p:nvSpPr>
          <p:cNvPr id="16" name="Shape 11"/>
          <p:cNvSpPr/>
          <p:nvPr/>
        </p:nvSpPr>
        <p:spPr>
          <a:xfrm>
            <a:off x="548640" y="4389120"/>
            <a:ext cx="11064240" cy="841248"/>
          </a:xfrm>
          <a:prstGeom prst="rect">
            <a:avLst/>
          </a:prstGeom>
          <a:solidFill>
            <a:srgbClr val="F4F7FF"/>
          </a:solidFill>
          <a:ln/>
        </p:spPr>
      </p:sp>
      <p:sp>
        <p:nvSpPr>
          <p:cNvPr id="17" name="Shape 12"/>
          <p:cNvSpPr/>
          <p:nvPr/>
        </p:nvSpPr>
        <p:spPr>
          <a:xfrm>
            <a:off x="777240" y="4507992"/>
            <a:ext cx="603504" cy="603504"/>
          </a:xfrm>
          <a:prstGeom prst="ellipse">
            <a:avLst/>
          </a:prstGeom>
          <a:solidFill>
            <a:srgbClr val="1E2761"/>
          </a:solidFill>
          <a:ln/>
        </p:spPr>
      </p:sp>
      <p:pic>
        <p:nvPicPr>
          <p:cNvPr id="18" name="Image 3" descr="preencoded.png">    </p:cNvPr>
          <p:cNvPicPr>
            <a:picLocks noChangeAspect="1"/>
          </p:cNvPicPr>
          <p:nvPr/>
        </p:nvPicPr>
        <p:blipFill>
          <a:blip r:embed="rId4"/>
          <a:stretch>
            <a:fillRect/>
          </a:stretch>
        </p:blipFill>
        <p:spPr>
          <a:xfrm>
            <a:off x="855696" y="4586448"/>
            <a:ext cx="446593" cy="446593"/>
          </a:xfrm>
          <a:prstGeom prst="rect">
            <a:avLst/>
          </a:prstGeom>
        </p:spPr>
      </p:pic>
      <p:sp>
        <p:nvSpPr>
          <p:cNvPr id="19" name="Text 13"/>
          <p:cNvSpPr/>
          <p:nvPr/>
        </p:nvSpPr>
        <p:spPr>
          <a:xfrm>
            <a:off x="1600200" y="4462272"/>
            <a:ext cx="420624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外部キー関係</a:t>
            </a:r>
            <a:endParaRPr lang="en-US" sz="1450" dirty="0"/>
          </a:p>
        </p:txBody>
      </p:sp>
      <p:sp>
        <p:nvSpPr>
          <p:cNvPr id="20" name="Text 14"/>
          <p:cNvSpPr/>
          <p:nvPr/>
        </p:nvSpPr>
        <p:spPr>
          <a:xfrm>
            <a:off x="5943600" y="4462272"/>
            <a:ext cx="5394960" cy="694944"/>
          </a:xfrm>
          <a:prstGeom prst="rect">
            <a:avLst/>
          </a:prstGeom>
          <a:noFill/>
          <a:ln/>
        </p:spPr>
        <p:txBody>
          <a:bodyPr wrap="square" rtlCol="0" anchor="ctr"/>
          <a:lstStyle/>
          <a:p>
            <a:pPr indent="0" marL="0">
              <a:buNone/>
            </a:pPr>
            <a:r>
              <a:rPr lang="en-US" sz="1250" dirty="0">
                <a:solidFill>
                  <a:srgbClr val="5B6480"/>
                </a:solidFill>
                <a:latin typeface="Calibri" pitchFamily="34" charset="0"/>
                <a:ea typeface="Calibri" pitchFamily="34" charset="-122"/>
                <a:cs typeface="Calibri" pitchFamily="34" charset="-120"/>
              </a:rPr>
              <a:t>選択スキーマ内のFKだけに絞り込み</a:t>
            </a:r>
            <a:endParaRPr lang="en-US" sz="1250" dirty="0"/>
          </a:p>
        </p:txBody>
      </p:sp>
      <p:sp>
        <p:nvSpPr>
          <p:cNvPr id="21" name="Shape 15"/>
          <p:cNvSpPr/>
          <p:nvPr/>
        </p:nvSpPr>
        <p:spPr>
          <a:xfrm>
            <a:off x="548640" y="5349240"/>
            <a:ext cx="11064240" cy="841248"/>
          </a:xfrm>
          <a:prstGeom prst="rect">
            <a:avLst/>
          </a:prstGeom>
          <a:solidFill>
            <a:srgbClr val="FFFFFF"/>
          </a:solidFill>
          <a:ln/>
        </p:spPr>
      </p:sp>
      <p:sp>
        <p:nvSpPr>
          <p:cNvPr id="22" name="Shape 16"/>
          <p:cNvSpPr/>
          <p:nvPr/>
        </p:nvSpPr>
        <p:spPr>
          <a:xfrm>
            <a:off x="777240" y="5468112"/>
            <a:ext cx="603504" cy="603504"/>
          </a:xfrm>
          <a:prstGeom prst="ellipse">
            <a:avLst/>
          </a:prstGeom>
          <a:solidFill>
            <a:srgbClr val="1E2761"/>
          </a:solidFill>
          <a:ln/>
        </p:spPr>
      </p:sp>
      <p:pic>
        <p:nvPicPr>
          <p:cNvPr id="23" name="Image 4" descr="preencoded.png">    </p:cNvPr>
          <p:cNvPicPr>
            <a:picLocks noChangeAspect="1"/>
          </p:cNvPicPr>
          <p:nvPr/>
        </p:nvPicPr>
        <p:blipFill>
          <a:blip r:embed="rId5"/>
          <a:stretch>
            <a:fillRect/>
          </a:stretch>
        </p:blipFill>
        <p:spPr>
          <a:xfrm>
            <a:off x="855696" y="5546568"/>
            <a:ext cx="446593" cy="446593"/>
          </a:xfrm>
          <a:prstGeom prst="rect">
            <a:avLst/>
          </a:prstGeom>
        </p:spPr>
      </p:pic>
      <p:sp>
        <p:nvSpPr>
          <p:cNvPr id="24" name="Text 17"/>
          <p:cNvSpPr/>
          <p:nvPr/>
        </p:nvSpPr>
        <p:spPr>
          <a:xfrm>
            <a:off x="1600200" y="5422392"/>
            <a:ext cx="420624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テーブル別詳細シート</a:t>
            </a:r>
            <a:endParaRPr lang="en-US" sz="1450" dirty="0"/>
          </a:p>
        </p:txBody>
      </p:sp>
      <p:sp>
        <p:nvSpPr>
          <p:cNvPr id="25" name="Text 18"/>
          <p:cNvSpPr/>
          <p:nvPr/>
        </p:nvSpPr>
        <p:spPr>
          <a:xfrm>
            <a:off x="5943600" y="5422392"/>
            <a:ext cx="5394960" cy="694944"/>
          </a:xfrm>
          <a:prstGeom prst="rect">
            <a:avLst/>
          </a:prstGeom>
          <a:noFill/>
          <a:ln/>
        </p:spPr>
        <p:txBody>
          <a:bodyPr wrap="square" rtlCol="0" anchor="ctr"/>
          <a:lstStyle/>
          <a:p>
            <a:pPr indent="0" marL="0">
              <a:buNone/>
            </a:pPr>
            <a:r>
              <a:rPr lang="en-US" sz="1250" dirty="0">
                <a:solidFill>
                  <a:srgbClr val="5B6480"/>
                </a:solidFill>
                <a:latin typeface="Calibri" pitchFamily="34" charset="0"/>
                <a:ea typeface="Calibri" pitchFamily="34" charset="-122"/>
                <a:cs typeface="Calibri" pitchFamily="34" charset="-120"/>
              </a:rPr>
              <a:t>シート名＝テーブル名。カラム定義＋インデックス情報</a:t>
            </a:r>
            <a:endParaRPr lang="en-US" sz="1250" dirty="0"/>
          </a:p>
        </p:txBody>
      </p:sp>
      <p:sp>
        <p:nvSpPr>
          <p:cNvPr id="27" name="Text 19"/>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09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④</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SQLエディタと実行支援</a:t>
            </a:r>
            <a:endParaRPr lang="en-US" sz="2800" dirty="0"/>
          </a:p>
        </p:txBody>
      </p:sp>
      <p:sp>
        <p:nvSpPr>
          <p:cNvPr id="6" name="Shape 3"/>
          <p:cNvSpPr/>
          <p:nvPr/>
        </p:nvSpPr>
        <p:spPr>
          <a:xfrm>
            <a:off x="548640" y="2423160"/>
            <a:ext cx="5394960" cy="1691640"/>
          </a:xfrm>
          <a:prstGeom prst="rect">
            <a:avLst/>
          </a:prstGeom>
          <a:solidFill>
            <a:srgbClr val="F4F7FF"/>
          </a:solidFill>
          <a:ln/>
        </p:spPr>
      </p:sp>
      <p:sp>
        <p:nvSpPr>
          <p:cNvPr id="7" name="Shape 4"/>
          <p:cNvSpPr/>
          <p:nvPr/>
        </p:nvSpPr>
        <p:spPr>
          <a:xfrm>
            <a:off x="777240" y="2651760"/>
            <a:ext cx="548640" cy="548640"/>
          </a:xfrm>
          <a:prstGeom prst="ellipse">
            <a:avLst/>
          </a:prstGeom>
          <a:solidFill>
            <a:srgbClr val="1E2761"/>
          </a:solidFill>
          <a:ln/>
        </p:spPr>
      </p:sp>
      <p:pic>
        <p:nvPicPr>
          <p:cNvPr id="8" name="Image 1" descr="preencoded.png">    </p:cNvPr>
          <p:cNvPicPr>
            <a:picLocks noChangeAspect="1"/>
          </p:cNvPicPr>
          <p:nvPr/>
        </p:nvPicPr>
        <p:blipFill>
          <a:blip r:embed="rId2"/>
          <a:stretch>
            <a:fillRect/>
          </a:stretch>
        </p:blipFill>
        <p:spPr>
          <a:xfrm>
            <a:off x="848563" y="2723083"/>
            <a:ext cx="405994" cy="405994"/>
          </a:xfrm>
          <a:prstGeom prst="rect">
            <a:avLst/>
          </a:prstGeom>
        </p:spPr>
      </p:pic>
      <p:sp>
        <p:nvSpPr>
          <p:cNvPr id="9" name="Text 5"/>
          <p:cNvSpPr/>
          <p:nvPr/>
        </p:nvSpPr>
        <p:spPr>
          <a:xfrm>
            <a:off x="1463040" y="2606040"/>
            <a:ext cx="42976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IntelliSense補完</a:t>
            </a:r>
            <a:endParaRPr lang="en-US" sz="1400" dirty="0"/>
          </a:p>
        </p:txBody>
      </p:sp>
      <p:sp>
        <p:nvSpPr>
          <p:cNvPr id="10" name="Text 6"/>
          <p:cNvSpPr/>
          <p:nvPr/>
        </p:nvSpPr>
        <p:spPr>
          <a:xfrm>
            <a:off x="777240" y="3291840"/>
            <a:ext cx="4937760" cy="73152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SQLキーワード＋接続中スキーマの実テーブル・カラム名を候補表示</a:t>
            </a:r>
            <a:endParaRPr lang="en-US" sz="1150" dirty="0"/>
          </a:p>
        </p:txBody>
      </p:sp>
      <p:sp>
        <p:nvSpPr>
          <p:cNvPr id="11" name="Shape 7"/>
          <p:cNvSpPr/>
          <p:nvPr/>
        </p:nvSpPr>
        <p:spPr>
          <a:xfrm>
            <a:off x="6217920" y="2423160"/>
            <a:ext cx="5394960" cy="1691640"/>
          </a:xfrm>
          <a:prstGeom prst="rect">
            <a:avLst/>
          </a:prstGeom>
          <a:solidFill>
            <a:srgbClr val="F4F7FF"/>
          </a:solidFill>
          <a:ln/>
        </p:spPr>
      </p:sp>
      <p:sp>
        <p:nvSpPr>
          <p:cNvPr id="12" name="Shape 8"/>
          <p:cNvSpPr/>
          <p:nvPr/>
        </p:nvSpPr>
        <p:spPr>
          <a:xfrm>
            <a:off x="6446520" y="2651760"/>
            <a:ext cx="548640" cy="548640"/>
          </a:xfrm>
          <a:prstGeom prst="ellipse">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6517843" y="2723083"/>
            <a:ext cx="405994" cy="405994"/>
          </a:xfrm>
          <a:prstGeom prst="rect">
            <a:avLst/>
          </a:prstGeom>
        </p:spPr>
      </p:pic>
      <p:sp>
        <p:nvSpPr>
          <p:cNvPr id="14" name="Text 9"/>
          <p:cNvSpPr/>
          <p:nvPr/>
        </p:nvSpPr>
        <p:spPr>
          <a:xfrm>
            <a:off x="7132320" y="2606040"/>
            <a:ext cx="42976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サーバー側ページング</a:t>
            </a:r>
            <a:endParaRPr lang="en-US" sz="1400" dirty="0"/>
          </a:p>
        </p:txBody>
      </p:sp>
      <p:sp>
        <p:nvSpPr>
          <p:cNvPr id="15" name="Text 10"/>
          <p:cNvSpPr/>
          <p:nvPr/>
        </p:nvSpPr>
        <p:spPr>
          <a:xfrm>
            <a:off x="6446520" y="3291840"/>
            <a:ext cx="4937760" cy="73152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LIMIT/OFFSET相当を自動生成。大規模テーブルでも全件読み込みしない</a:t>
            </a:r>
            <a:endParaRPr lang="en-US" sz="1150" dirty="0"/>
          </a:p>
        </p:txBody>
      </p:sp>
      <p:sp>
        <p:nvSpPr>
          <p:cNvPr id="16" name="Shape 11"/>
          <p:cNvSpPr/>
          <p:nvPr/>
        </p:nvSpPr>
        <p:spPr>
          <a:xfrm>
            <a:off x="548640" y="4343400"/>
            <a:ext cx="5394960" cy="1691640"/>
          </a:xfrm>
          <a:prstGeom prst="rect">
            <a:avLst/>
          </a:prstGeom>
          <a:solidFill>
            <a:srgbClr val="F4F7FF"/>
          </a:solidFill>
          <a:ln/>
        </p:spPr>
      </p:sp>
      <p:sp>
        <p:nvSpPr>
          <p:cNvPr id="17" name="Shape 12"/>
          <p:cNvSpPr/>
          <p:nvPr/>
        </p:nvSpPr>
        <p:spPr>
          <a:xfrm>
            <a:off x="777240" y="4572000"/>
            <a:ext cx="548640" cy="548640"/>
          </a:xfrm>
          <a:prstGeom prst="ellipse">
            <a:avLst/>
          </a:prstGeom>
          <a:solidFill>
            <a:srgbClr val="1E2761"/>
          </a:solidFill>
          <a:ln/>
        </p:spPr>
      </p:sp>
      <p:pic>
        <p:nvPicPr>
          <p:cNvPr id="18" name="Image 3" descr="preencoded.png">    </p:cNvPr>
          <p:cNvPicPr>
            <a:picLocks noChangeAspect="1"/>
          </p:cNvPicPr>
          <p:nvPr/>
        </p:nvPicPr>
        <p:blipFill>
          <a:blip r:embed="rId4"/>
          <a:stretch>
            <a:fillRect/>
          </a:stretch>
        </p:blipFill>
        <p:spPr>
          <a:xfrm>
            <a:off x="848563" y="4643323"/>
            <a:ext cx="405994" cy="405994"/>
          </a:xfrm>
          <a:prstGeom prst="rect">
            <a:avLst/>
          </a:prstGeom>
        </p:spPr>
      </p:pic>
      <p:sp>
        <p:nvSpPr>
          <p:cNvPr id="19" name="Text 13"/>
          <p:cNvSpPr/>
          <p:nvPr/>
        </p:nvSpPr>
        <p:spPr>
          <a:xfrm>
            <a:off x="1463040" y="4526280"/>
            <a:ext cx="42976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実行計画ビューア</a:t>
            </a:r>
            <a:endParaRPr lang="en-US" sz="1400" dirty="0"/>
          </a:p>
        </p:txBody>
      </p:sp>
      <p:sp>
        <p:nvSpPr>
          <p:cNvPr id="20" name="Text 14"/>
          <p:cNvSpPr/>
          <p:nvPr/>
        </p:nvSpPr>
        <p:spPr>
          <a:xfrm>
            <a:off x="777240" y="5212080"/>
            <a:ext cx="4937760" cy="73152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EXPLAIN / EXPLAIN PLAN をワンクリックで表示（5方言対応）</a:t>
            </a:r>
            <a:endParaRPr lang="en-US" sz="1150" dirty="0"/>
          </a:p>
        </p:txBody>
      </p:sp>
      <p:sp>
        <p:nvSpPr>
          <p:cNvPr id="21" name="Shape 15"/>
          <p:cNvSpPr/>
          <p:nvPr/>
        </p:nvSpPr>
        <p:spPr>
          <a:xfrm>
            <a:off x="6217920" y="4343400"/>
            <a:ext cx="5394960" cy="1691640"/>
          </a:xfrm>
          <a:prstGeom prst="rect">
            <a:avLst/>
          </a:prstGeom>
          <a:solidFill>
            <a:srgbClr val="F4F7FF"/>
          </a:solidFill>
          <a:ln/>
        </p:spPr>
      </p:sp>
      <p:sp>
        <p:nvSpPr>
          <p:cNvPr id="22" name="Shape 16"/>
          <p:cNvSpPr/>
          <p:nvPr/>
        </p:nvSpPr>
        <p:spPr>
          <a:xfrm>
            <a:off x="6446520" y="4572000"/>
            <a:ext cx="548640" cy="548640"/>
          </a:xfrm>
          <a:prstGeom prst="ellipse">
            <a:avLst/>
          </a:prstGeom>
          <a:solidFill>
            <a:srgbClr val="1E2761"/>
          </a:solidFill>
          <a:ln/>
        </p:spPr>
      </p:sp>
      <p:pic>
        <p:nvPicPr>
          <p:cNvPr id="23" name="Image 4" descr="preencoded.png">    </p:cNvPr>
          <p:cNvPicPr>
            <a:picLocks noChangeAspect="1"/>
          </p:cNvPicPr>
          <p:nvPr/>
        </p:nvPicPr>
        <p:blipFill>
          <a:blip r:embed="rId5"/>
          <a:stretch>
            <a:fillRect/>
          </a:stretch>
        </p:blipFill>
        <p:spPr>
          <a:xfrm>
            <a:off x="6517843" y="4643323"/>
            <a:ext cx="405994" cy="405994"/>
          </a:xfrm>
          <a:prstGeom prst="rect">
            <a:avLst/>
          </a:prstGeom>
        </p:spPr>
      </p:pic>
      <p:sp>
        <p:nvSpPr>
          <p:cNvPr id="24" name="Text 17"/>
          <p:cNvSpPr/>
          <p:nvPr/>
        </p:nvSpPr>
        <p:spPr>
          <a:xfrm>
            <a:off x="7132320" y="4526280"/>
            <a:ext cx="42976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永続化クエリ履歴</a:t>
            </a:r>
            <a:endParaRPr lang="en-US" sz="1400" dirty="0"/>
          </a:p>
        </p:txBody>
      </p:sp>
      <p:sp>
        <p:nvSpPr>
          <p:cNvPr id="25" name="Text 18"/>
          <p:cNvSpPr/>
          <p:nvPr/>
        </p:nvSpPr>
        <p:spPr>
          <a:xfrm>
            <a:off x="6446520" y="5212080"/>
            <a:ext cx="4937760" cy="73152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実行したSQLを暗号化して保存。再起動しても遡れる</a:t>
            </a:r>
            <a:endParaRPr lang="en-US" sz="1150" dirty="0"/>
          </a:p>
        </p:txBody>
      </p:sp>
      <p:sp>
        <p:nvSpPr>
          <p:cNvPr id="27" name="Text 19"/>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⑤</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インライン編集とBLOB/CLOBビューア</a:t>
            </a:r>
            <a:endParaRPr lang="en-US" sz="2800" dirty="0"/>
          </a:p>
        </p:txBody>
      </p:sp>
      <p:sp>
        <p:nvSpPr>
          <p:cNvPr id="6" name="Shape 3"/>
          <p:cNvSpPr/>
          <p:nvPr/>
        </p:nvSpPr>
        <p:spPr>
          <a:xfrm>
            <a:off x="548640" y="2423160"/>
            <a:ext cx="5349240" cy="3794760"/>
          </a:xfrm>
          <a:prstGeom prst="rect">
            <a:avLst/>
          </a:prstGeom>
          <a:solidFill>
            <a:srgbClr val="F4F7FF"/>
          </a:solidFill>
          <a:ln/>
        </p:spPr>
      </p:sp>
      <p:sp>
        <p:nvSpPr>
          <p:cNvPr id="7" name="Shape 4"/>
          <p:cNvSpPr/>
          <p:nvPr/>
        </p:nvSpPr>
        <p:spPr>
          <a:xfrm>
            <a:off x="822960" y="2697480"/>
            <a:ext cx="594360" cy="594360"/>
          </a:xfrm>
          <a:prstGeom prst="ellipse">
            <a:avLst/>
          </a:prstGeom>
          <a:solidFill>
            <a:srgbClr val="1E2761"/>
          </a:solidFill>
          <a:ln/>
        </p:spPr>
      </p:sp>
      <p:pic>
        <p:nvPicPr>
          <p:cNvPr id="8" name="Image 1" descr="preencoded.png">    </p:cNvPr>
          <p:cNvPicPr>
            <a:picLocks noChangeAspect="1"/>
          </p:cNvPicPr>
          <p:nvPr/>
        </p:nvPicPr>
        <p:blipFill>
          <a:blip r:embed="rId2"/>
          <a:stretch>
            <a:fillRect/>
          </a:stretch>
        </p:blipFill>
        <p:spPr>
          <a:xfrm>
            <a:off x="900227" y="2774747"/>
            <a:ext cx="439826" cy="439826"/>
          </a:xfrm>
          <a:prstGeom prst="rect">
            <a:avLst/>
          </a:prstGeom>
        </p:spPr>
      </p:pic>
      <p:sp>
        <p:nvSpPr>
          <p:cNvPr id="9" name="Text 5"/>
          <p:cNvSpPr/>
          <p:nvPr/>
        </p:nvSpPr>
        <p:spPr>
          <a:xfrm>
            <a:off x="1554480" y="2743200"/>
            <a:ext cx="420624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結果グリッドをそのまま編集</a:t>
            </a:r>
            <a:endParaRPr lang="en-US" sz="1500" dirty="0"/>
          </a:p>
        </p:txBody>
      </p:sp>
      <p:sp>
        <p:nvSpPr>
          <p:cNvPr id="10" name="Text 6"/>
          <p:cNvSpPr/>
          <p:nvPr/>
        </p:nvSpPr>
        <p:spPr>
          <a:xfrm>
            <a:off x="822960" y="3429000"/>
            <a:ext cx="4800600" cy="1371600"/>
          </a:xfrm>
          <a:prstGeom prst="rect">
            <a:avLst/>
          </a:prstGeom>
          <a:noFill/>
          <a:ln/>
        </p:spPr>
        <p:txBody>
          <a:bodyPr wrap="square" rtlCol="0" anchor="ctr"/>
          <a:lstStyle/>
          <a:p>
            <a:pPr indent="0" marL="0">
              <a:lnSpc>
                <a:spcPct val="130000"/>
              </a:lnSpc>
              <a:buNone/>
            </a:pPr>
            <a:r>
              <a:rPr lang="en-US" sz="1300" dirty="0">
                <a:solidFill>
                  <a:srgbClr val="5B6480"/>
                </a:solidFill>
                <a:latin typeface="Calibri" pitchFamily="34" charset="0"/>
                <a:ea typeface="Calibri" pitchFamily="34" charset="-122"/>
                <a:cs typeface="Calibri" pitchFamily="34" charset="-120"/>
              </a:rPr>
              <a:t>セルを直接書き換えると、変更差分と主キーから UPDATE 文を自動生成して実行。JOINを含む複雑なクエリは安全側で対象外にします。</a:t>
            </a:r>
            <a:endParaRPr lang="en-US" sz="1300" dirty="0"/>
          </a:p>
        </p:txBody>
      </p:sp>
      <p:sp>
        <p:nvSpPr>
          <p:cNvPr id="11" name="Shape 7"/>
          <p:cNvSpPr/>
          <p:nvPr/>
        </p:nvSpPr>
        <p:spPr>
          <a:xfrm>
            <a:off x="6080760" y="2423160"/>
            <a:ext cx="5532120" cy="3794760"/>
          </a:xfrm>
          <a:prstGeom prst="rect">
            <a:avLst/>
          </a:prstGeom>
          <a:solidFill>
            <a:srgbClr val="1E2761"/>
          </a:solidFill>
          <a:ln/>
        </p:spPr>
      </p:sp>
      <p:sp>
        <p:nvSpPr>
          <p:cNvPr id="12" name="Shape 8"/>
          <p:cNvSpPr/>
          <p:nvPr/>
        </p:nvSpPr>
        <p:spPr>
          <a:xfrm>
            <a:off x="6355080" y="2697480"/>
            <a:ext cx="594360" cy="594360"/>
          </a:xfrm>
          <a:prstGeom prst="ellipse">
            <a:avLst/>
          </a:prstGeom>
          <a:solidFill>
            <a:srgbClr val="2C3680"/>
          </a:solidFill>
          <a:ln/>
        </p:spPr>
      </p:sp>
      <p:pic>
        <p:nvPicPr>
          <p:cNvPr id="13" name="Image 2" descr="preencoded.png">    </p:cNvPr>
          <p:cNvPicPr>
            <a:picLocks noChangeAspect="1"/>
          </p:cNvPicPr>
          <p:nvPr/>
        </p:nvPicPr>
        <p:blipFill>
          <a:blip r:embed="rId3"/>
          <a:stretch>
            <a:fillRect/>
          </a:stretch>
        </p:blipFill>
        <p:spPr>
          <a:xfrm>
            <a:off x="6432347" y="2774747"/>
            <a:ext cx="439826" cy="439826"/>
          </a:xfrm>
          <a:prstGeom prst="rect">
            <a:avLst/>
          </a:prstGeom>
        </p:spPr>
      </p:pic>
      <p:sp>
        <p:nvSpPr>
          <p:cNvPr id="14" name="Text 9"/>
          <p:cNvSpPr/>
          <p:nvPr/>
        </p:nvSpPr>
        <p:spPr>
          <a:xfrm>
            <a:off x="7086600" y="2743200"/>
            <a:ext cx="420624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BLOB / CLOB ビューア</a:t>
            </a:r>
            <a:endParaRPr lang="en-US" sz="1500" dirty="0"/>
          </a:p>
        </p:txBody>
      </p:sp>
      <p:sp>
        <p:nvSpPr>
          <p:cNvPr id="15" name="Text 10"/>
          <p:cNvSpPr/>
          <p:nvPr/>
        </p:nvSpPr>
        <p:spPr>
          <a:xfrm>
            <a:off x="6355080" y="3429000"/>
            <a:ext cx="5029200" cy="137160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画像はプレビュー表示、バイナリは16進ダンプ、テキストはそのまま閲覧。ダブルクリックで開いてファイル保存も可能です。</a:t>
            </a:r>
            <a:endParaRPr lang="en-US" sz="1300" dirty="0"/>
          </a:p>
        </p:txBody>
      </p:sp>
      <p:sp>
        <p:nvSpPr>
          <p:cNvPr id="17" name="Text 11"/>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11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DEMO ⑥</a:t>
            </a:r>
            <a:endParaRPr lang="en-US" sz="1300" dirty="0"/>
          </a:p>
        </p:txBody>
      </p:sp>
      <p:sp>
        <p:nvSpPr>
          <p:cNvPr id="3" name="Shape 1"/>
          <p:cNvSpPr/>
          <p:nvPr/>
        </p:nvSpPr>
        <p:spPr>
          <a:xfrm>
            <a:off x="548640" y="137160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655625" y="1478585"/>
            <a:ext cx="608990" cy="608990"/>
          </a:xfrm>
          <a:prstGeom prst="rect">
            <a:avLst/>
          </a:prstGeom>
        </p:spPr>
      </p:pic>
      <p:sp>
        <p:nvSpPr>
          <p:cNvPr id="5" name="Text 2"/>
          <p:cNvSpPr/>
          <p:nvPr/>
        </p:nvSpPr>
        <p:spPr>
          <a:xfrm>
            <a:off x="1600200" y="1417320"/>
            <a:ext cx="91440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スキーマ比較・差分同期スクリプト</a:t>
            </a:r>
            <a:endParaRPr lang="en-US" sz="2800" dirty="0"/>
          </a:p>
        </p:txBody>
      </p:sp>
      <p:sp>
        <p:nvSpPr>
          <p:cNvPr id="6" name="Shape 3"/>
          <p:cNvSpPr/>
          <p:nvPr/>
        </p:nvSpPr>
        <p:spPr>
          <a:xfrm>
            <a:off x="548640" y="2468880"/>
            <a:ext cx="5029200" cy="3383280"/>
          </a:xfrm>
          <a:prstGeom prst="rect">
            <a:avLst/>
          </a:prstGeom>
          <a:solidFill>
            <a:srgbClr val="F4F7FF"/>
          </a:solidFill>
          <a:ln/>
        </p:spPr>
      </p:sp>
      <p:sp>
        <p:nvSpPr>
          <p:cNvPr id="7" name="Text 4"/>
          <p:cNvSpPr/>
          <p:nvPr/>
        </p:nvSpPr>
        <p:spPr>
          <a:xfrm>
            <a:off x="822960" y="2651760"/>
            <a:ext cx="44805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ソース環境</a:t>
            </a:r>
            <a:endParaRPr lang="en-US" sz="1400" dirty="0"/>
          </a:p>
        </p:txBody>
      </p:sp>
      <p:sp>
        <p:nvSpPr>
          <p:cNvPr id="8" name="Text 5"/>
          <p:cNvSpPr/>
          <p:nvPr/>
        </p:nvSpPr>
        <p:spPr>
          <a:xfrm>
            <a:off x="822960" y="3017520"/>
            <a:ext cx="4480560" cy="457200"/>
          </a:xfrm>
          <a:prstGeom prst="rect">
            <a:avLst/>
          </a:prstGeom>
          <a:noFill/>
          <a:ln/>
        </p:spPr>
        <p:txBody>
          <a:bodyPr wrap="square" rtlCol="0" anchor="ctr"/>
          <a:lstStyle/>
          <a:p>
            <a:pPr indent="0" marL="0">
              <a:buNone/>
            </a:pPr>
            <a:r>
              <a:rPr lang="en-US" sz="1200" dirty="0">
                <a:solidFill>
                  <a:srgbClr val="5B6480"/>
                </a:solidFill>
                <a:latin typeface="Calibri" pitchFamily="34" charset="0"/>
                <a:ea typeface="Calibri" pitchFamily="34" charset="-122"/>
                <a:cs typeface="Calibri" pitchFamily="34" charset="-120"/>
              </a:rPr>
              <a:t>開発DBなど、基準にしたいスキーマ</a:t>
            </a:r>
            <a:endParaRPr lang="en-US" sz="1200" dirty="0"/>
          </a:p>
        </p:txBody>
      </p:sp>
      <p:sp>
        <p:nvSpPr>
          <p:cNvPr id="9" name="Shape 6"/>
          <p:cNvSpPr/>
          <p:nvPr/>
        </p:nvSpPr>
        <p:spPr>
          <a:xfrm>
            <a:off x="6583680" y="2468880"/>
            <a:ext cx="5029200" cy="3383280"/>
          </a:xfrm>
          <a:prstGeom prst="rect">
            <a:avLst/>
          </a:prstGeom>
          <a:solidFill>
            <a:srgbClr val="F4F7FF"/>
          </a:solidFill>
          <a:ln/>
        </p:spPr>
      </p:sp>
      <p:sp>
        <p:nvSpPr>
          <p:cNvPr id="10" name="Text 7"/>
          <p:cNvSpPr/>
          <p:nvPr/>
        </p:nvSpPr>
        <p:spPr>
          <a:xfrm>
            <a:off x="6858000" y="2651760"/>
            <a:ext cx="44805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ターゲット環境</a:t>
            </a:r>
            <a:endParaRPr lang="en-US" sz="1400" dirty="0"/>
          </a:p>
        </p:txBody>
      </p:sp>
      <p:sp>
        <p:nvSpPr>
          <p:cNvPr id="11" name="Text 8"/>
          <p:cNvSpPr/>
          <p:nvPr/>
        </p:nvSpPr>
        <p:spPr>
          <a:xfrm>
            <a:off x="6858000" y="3017520"/>
            <a:ext cx="4480560" cy="457200"/>
          </a:xfrm>
          <a:prstGeom prst="rect">
            <a:avLst/>
          </a:prstGeom>
          <a:noFill/>
          <a:ln/>
        </p:spPr>
        <p:txBody>
          <a:bodyPr wrap="square" rtlCol="0" anchor="ctr"/>
          <a:lstStyle/>
          <a:p>
            <a:pPr indent="0" marL="0">
              <a:buNone/>
            </a:pPr>
            <a:r>
              <a:rPr lang="en-US" sz="1200" dirty="0">
                <a:solidFill>
                  <a:srgbClr val="5B6480"/>
                </a:solidFill>
                <a:latin typeface="Calibri" pitchFamily="34" charset="0"/>
                <a:ea typeface="Calibri" pitchFamily="34" charset="-122"/>
                <a:cs typeface="Calibri" pitchFamily="34" charset="-120"/>
              </a:rPr>
              <a:t>比較したい別のDB接続</a:t>
            </a:r>
            <a:endParaRPr lang="en-US" sz="1200" dirty="0"/>
          </a:p>
        </p:txBody>
      </p:sp>
      <p:sp>
        <p:nvSpPr>
          <p:cNvPr id="12" name="Shape 9"/>
          <p:cNvSpPr/>
          <p:nvPr/>
        </p:nvSpPr>
        <p:spPr>
          <a:xfrm>
            <a:off x="5513832" y="3794760"/>
            <a:ext cx="1188720" cy="118872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5668366" y="3949294"/>
            <a:ext cx="879653" cy="879653"/>
          </a:xfrm>
          <a:prstGeom prst="rect">
            <a:avLst/>
          </a:prstGeom>
        </p:spPr>
      </p:pic>
      <p:sp>
        <p:nvSpPr>
          <p:cNvPr id="14" name="Text 10"/>
          <p:cNvSpPr/>
          <p:nvPr/>
        </p:nvSpPr>
        <p:spPr>
          <a:xfrm>
            <a:off x="822960" y="5074920"/>
            <a:ext cx="10515600" cy="365760"/>
          </a:xfrm>
          <a:prstGeom prst="rect">
            <a:avLst/>
          </a:prstGeom>
          <a:noFill/>
          <a:ln/>
        </p:spPr>
        <p:txBody>
          <a:bodyPr wrap="square" rtlCol="0" anchor="ctr"/>
          <a:lstStyle/>
          <a:p>
            <a:pPr indent="0" marL="0">
              <a:buNone/>
            </a:pPr>
            <a:r>
              <a:rPr lang="en-US" sz="1300" b="1" dirty="0">
                <a:solidFill>
                  <a:srgbClr val="20264A"/>
                </a:solidFill>
                <a:latin typeface="Calibri" pitchFamily="34" charset="0"/>
                <a:ea typeface="Calibri" pitchFamily="34" charset="-122"/>
                <a:cs typeface="Calibri" pitchFamily="34" charset="-120"/>
              </a:rPr>
              <a:t>テーブル追加・削除・カラム型変更を検出 → ALTER文を自動生成</a:t>
            </a:r>
            <a:endParaRPr lang="en-US" sz="1300" dirty="0"/>
          </a:p>
        </p:txBody>
      </p:sp>
      <p:sp>
        <p:nvSpPr>
          <p:cNvPr id="15" name="Text 11"/>
          <p:cNvSpPr/>
          <p:nvPr/>
        </p:nvSpPr>
        <p:spPr>
          <a:xfrm>
            <a:off x="822960" y="5440680"/>
            <a:ext cx="10515600" cy="548640"/>
          </a:xfrm>
          <a:prstGeom prst="rect">
            <a:avLst/>
          </a:prstGeom>
          <a:noFill/>
          <a:ln/>
        </p:spPr>
        <p:txBody>
          <a:bodyPr wrap="square" rtlCol="0" anchor="ctr"/>
          <a:lstStyle/>
          <a:p>
            <a:pPr indent="0" marL="0">
              <a:buNone/>
            </a:pPr>
            <a:r>
              <a:rPr lang="en-US" sz="1250" dirty="0">
                <a:solidFill>
                  <a:srgbClr val="5B6480"/>
                </a:solidFill>
                <a:latin typeface="Calibri" pitchFamily="34" charset="0"/>
                <a:ea typeface="Calibri" pitchFamily="34" charset="-122"/>
                <a:cs typeface="Calibri" pitchFamily="34" charset="-120"/>
              </a:rPr>
              <a:t>DROP TABLE / DROP COLUMN のような破壊的な文は、常にコメントアウトして出力し、意図しない自動実行を防止します。</a:t>
            </a:r>
            <a:endParaRPr lang="en-US" sz="1250" dirty="0"/>
          </a:p>
        </p:txBody>
      </p:sp>
      <p:sp>
        <p:nvSpPr>
          <p:cNvPr id="17" name="Text 12"/>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MORE FEATURES</a:t>
            </a:r>
            <a:endParaRPr lang="en-US" sz="1300" dirty="0"/>
          </a:p>
        </p:txBody>
      </p:sp>
      <p:sp>
        <p:nvSpPr>
          <p:cNvPr id="3" name="Text 1"/>
          <p:cNvSpPr/>
          <p:nvPr/>
        </p:nvSpPr>
        <p:spPr>
          <a:xfrm>
            <a:off x="548640" y="685800"/>
            <a:ext cx="91440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その他の便利機能</a:t>
            </a:r>
            <a:endParaRPr lang="en-US" sz="3200" dirty="0"/>
          </a:p>
        </p:txBody>
      </p:sp>
      <p:sp>
        <p:nvSpPr>
          <p:cNvPr id="4" name="Shape 2"/>
          <p:cNvSpPr/>
          <p:nvPr/>
        </p:nvSpPr>
        <p:spPr>
          <a:xfrm>
            <a:off x="548640" y="1874520"/>
            <a:ext cx="5394960" cy="1874520"/>
          </a:xfrm>
          <a:prstGeom prst="rect">
            <a:avLst/>
          </a:prstGeom>
          <a:solidFill>
            <a:srgbClr val="1E2761"/>
          </a:solidFill>
          <a:ln/>
        </p:spPr>
      </p:sp>
      <p:sp>
        <p:nvSpPr>
          <p:cNvPr id="5" name="Shape 3"/>
          <p:cNvSpPr/>
          <p:nvPr/>
        </p:nvSpPr>
        <p:spPr>
          <a:xfrm>
            <a:off x="822960" y="2167128"/>
            <a:ext cx="621792" cy="621792"/>
          </a:xfrm>
          <a:prstGeom prst="ellipse">
            <a:avLst/>
          </a:prstGeom>
          <a:solidFill>
            <a:srgbClr val="2C3680"/>
          </a:solidFill>
          <a:ln/>
        </p:spPr>
      </p:sp>
      <p:pic>
        <p:nvPicPr>
          <p:cNvPr id="6" name="Image 0" descr="preencoded.png">    </p:cNvPr>
          <p:cNvPicPr>
            <a:picLocks noChangeAspect="1"/>
          </p:cNvPicPr>
          <p:nvPr/>
        </p:nvPicPr>
        <p:blipFill>
          <a:blip r:embed="rId1"/>
          <a:stretch>
            <a:fillRect/>
          </a:stretch>
        </p:blipFill>
        <p:spPr>
          <a:xfrm>
            <a:off x="903793" y="2247961"/>
            <a:ext cx="460126" cy="460126"/>
          </a:xfrm>
          <a:prstGeom prst="rect">
            <a:avLst/>
          </a:prstGeom>
        </p:spPr>
      </p:pic>
      <p:sp>
        <p:nvSpPr>
          <p:cNvPr id="7" name="Text 4"/>
          <p:cNvSpPr/>
          <p:nvPr/>
        </p:nvSpPr>
        <p:spPr>
          <a:xfrm>
            <a:off x="1645920" y="2148840"/>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インデックス管理</a:t>
            </a:r>
            <a:endParaRPr lang="en-US" sz="1500" dirty="0"/>
          </a:p>
        </p:txBody>
      </p:sp>
      <p:sp>
        <p:nvSpPr>
          <p:cNvPr id="8" name="Text 5"/>
          <p:cNvSpPr/>
          <p:nvPr/>
        </p:nvSpPr>
        <p:spPr>
          <a:xfrm>
            <a:off x="822960" y="2926080"/>
            <a:ext cx="4846320" cy="68580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オブジェクトツリーにインデックス（複合列・ユニーク制約）を表示</a:t>
            </a:r>
            <a:endParaRPr lang="en-US" sz="1200" dirty="0"/>
          </a:p>
        </p:txBody>
      </p:sp>
      <p:sp>
        <p:nvSpPr>
          <p:cNvPr id="9" name="Shape 6"/>
          <p:cNvSpPr/>
          <p:nvPr/>
        </p:nvSpPr>
        <p:spPr>
          <a:xfrm>
            <a:off x="6217920" y="1874520"/>
            <a:ext cx="5394960" cy="1874520"/>
          </a:xfrm>
          <a:prstGeom prst="rect">
            <a:avLst/>
          </a:prstGeom>
          <a:solidFill>
            <a:srgbClr val="1E2761"/>
          </a:solidFill>
          <a:ln/>
        </p:spPr>
      </p:sp>
      <p:sp>
        <p:nvSpPr>
          <p:cNvPr id="10" name="Shape 7"/>
          <p:cNvSpPr/>
          <p:nvPr/>
        </p:nvSpPr>
        <p:spPr>
          <a:xfrm>
            <a:off x="6492240" y="2167128"/>
            <a:ext cx="621792" cy="621792"/>
          </a:xfrm>
          <a:prstGeom prst="ellipse">
            <a:avLst/>
          </a:prstGeom>
          <a:solidFill>
            <a:srgbClr val="2C3680"/>
          </a:solidFill>
          <a:ln/>
        </p:spPr>
      </p:sp>
      <p:pic>
        <p:nvPicPr>
          <p:cNvPr id="11" name="Image 1" descr="preencoded.png">    </p:cNvPr>
          <p:cNvPicPr>
            <a:picLocks noChangeAspect="1"/>
          </p:cNvPicPr>
          <p:nvPr/>
        </p:nvPicPr>
        <p:blipFill>
          <a:blip r:embed="rId2"/>
          <a:stretch>
            <a:fillRect/>
          </a:stretch>
        </p:blipFill>
        <p:spPr>
          <a:xfrm>
            <a:off x="6573073" y="2247961"/>
            <a:ext cx="460126" cy="460126"/>
          </a:xfrm>
          <a:prstGeom prst="rect">
            <a:avLst/>
          </a:prstGeom>
        </p:spPr>
      </p:pic>
      <p:sp>
        <p:nvSpPr>
          <p:cNvPr id="12" name="Text 8"/>
          <p:cNvSpPr/>
          <p:nvPr/>
        </p:nvSpPr>
        <p:spPr>
          <a:xfrm>
            <a:off x="7315200" y="2148840"/>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SQLスニペットライブラリ</a:t>
            </a:r>
            <a:endParaRPr lang="en-US" sz="1500" dirty="0"/>
          </a:p>
        </p:txBody>
      </p:sp>
      <p:sp>
        <p:nvSpPr>
          <p:cNvPr id="13" name="Text 9"/>
          <p:cNvSpPr/>
          <p:nvPr/>
        </p:nvSpPr>
        <p:spPr>
          <a:xfrm>
            <a:off x="6492240" y="2926080"/>
            <a:ext cx="4846320" cy="68580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よく使うSQLを名前付きで保存し、ワンクリックで挿入</a:t>
            </a:r>
            <a:endParaRPr lang="en-US" sz="1200" dirty="0"/>
          </a:p>
        </p:txBody>
      </p:sp>
      <p:sp>
        <p:nvSpPr>
          <p:cNvPr id="14" name="Shape 10"/>
          <p:cNvSpPr/>
          <p:nvPr/>
        </p:nvSpPr>
        <p:spPr>
          <a:xfrm>
            <a:off x="548640" y="4023360"/>
            <a:ext cx="5394960" cy="1874520"/>
          </a:xfrm>
          <a:prstGeom prst="rect">
            <a:avLst/>
          </a:prstGeom>
          <a:solidFill>
            <a:srgbClr val="1E2761"/>
          </a:solidFill>
          <a:ln/>
        </p:spPr>
      </p:sp>
      <p:sp>
        <p:nvSpPr>
          <p:cNvPr id="15" name="Shape 11"/>
          <p:cNvSpPr/>
          <p:nvPr/>
        </p:nvSpPr>
        <p:spPr>
          <a:xfrm>
            <a:off x="822960" y="4315968"/>
            <a:ext cx="621792" cy="621792"/>
          </a:xfrm>
          <a:prstGeom prst="ellipse">
            <a:avLst/>
          </a:prstGeom>
          <a:solidFill>
            <a:srgbClr val="2C3680"/>
          </a:solidFill>
          <a:ln/>
        </p:spPr>
      </p:sp>
      <p:pic>
        <p:nvPicPr>
          <p:cNvPr id="16" name="Image 2" descr="preencoded.png">    </p:cNvPr>
          <p:cNvPicPr>
            <a:picLocks noChangeAspect="1"/>
          </p:cNvPicPr>
          <p:nvPr/>
        </p:nvPicPr>
        <p:blipFill>
          <a:blip r:embed="rId3"/>
          <a:stretch>
            <a:fillRect/>
          </a:stretch>
        </p:blipFill>
        <p:spPr>
          <a:xfrm>
            <a:off x="903793" y="4396801"/>
            <a:ext cx="460126" cy="460126"/>
          </a:xfrm>
          <a:prstGeom prst="rect">
            <a:avLst/>
          </a:prstGeom>
        </p:spPr>
      </p:pic>
      <p:sp>
        <p:nvSpPr>
          <p:cNvPr id="17" name="Text 12"/>
          <p:cNvSpPr/>
          <p:nvPr/>
        </p:nvSpPr>
        <p:spPr>
          <a:xfrm>
            <a:off x="1645920" y="4297680"/>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Undo/Redo・Copy/Paste</a:t>
            </a:r>
            <a:endParaRPr lang="en-US" sz="1500" dirty="0"/>
          </a:p>
        </p:txBody>
      </p:sp>
      <p:sp>
        <p:nvSpPr>
          <p:cNvPr id="18" name="Text 13"/>
          <p:cNvSpPr/>
          <p:nvPr/>
        </p:nvSpPr>
        <p:spPr>
          <a:xfrm>
            <a:off x="822960" y="5074920"/>
            <a:ext cx="4846320" cy="68580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ER図編集の取り消し・やり直し・コピー＆ペーストに対応</a:t>
            </a:r>
            <a:endParaRPr lang="en-US" sz="1200" dirty="0"/>
          </a:p>
        </p:txBody>
      </p:sp>
      <p:sp>
        <p:nvSpPr>
          <p:cNvPr id="19" name="Shape 14"/>
          <p:cNvSpPr/>
          <p:nvPr/>
        </p:nvSpPr>
        <p:spPr>
          <a:xfrm>
            <a:off x="6217920" y="4023360"/>
            <a:ext cx="5394960" cy="1874520"/>
          </a:xfrm>
          <a:prstGeom prst="rect">
            <a:avLst/>
          </a:prstGeom>
          <a:solidFill>
            <a:srgbClr val="1E2761"/>
          </a:solidFill>
          <a:ln/>
        </p:spPr>
      </p:sp>
      <p:sp>
        <p:nvSpPr>
          <p:cNvPr id="20" name="Shape 15"/>
          <p:cNvSpPr/>
          <p:nvPr/>
        </p:nvSpPr>
        <p:spPr>
          <a:xfrm>
            <a:off x="6492240" y="4315968"/>
            <a:ext cx="621792" cy="621792"/>
          </a:xfrm>
          <a:prstGeom prst="ellipse">
            <a:avLst/>
          </a:prstGeom>
          <a:solidFill>
            <a:srgbClr val="2C3680"/>
          </a:solidFill>
          <a:ln/>
        </p:spPr>
      </p:sp>
      <p:pic>
        <p:nvPicPr>
          <p:cNvPr id="21" name="Image 3" descr="preencoded.png">    </p:cNvPr>
          <p:cNvPicPr>
            <a:picLocks noChangeAspect="1"/>
          </p:cNvPicPr>
          <p:nvPr/>
        </p:nvPicPr>
        <p:blipFill>
          <a:blip r:embed="rId4"/>
          <a:stretch>
            <a:fillRect/>
          </a:stretch>
        </p:blipFill>
        <p:spPr>
          <a:xfrm>
            <a:off x="6573073" y="4396801"/>
            <a:ext cx="460126" cy="460126"/>
          </a:xfrm>
          <a:prstGeom prst="rect">
            <a:avLst/>
          </a:prstGeom>
        </p:spPr>
      </p:pic>
      <p:sp>
        <p:nvSpPr>
          <p:cNvPr id="22" name="Text 16"/>
          <p:cNvSpPr/>
          <p:nvPr/>
        </p:nvSpPr>
        <p:spPr>
          <a:xfrm>
            <a:off x="7315200" y="4297680"/>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Table Designer</a:t>
            </a:r>
            <a:endParaRPr lang="en-US" sz="1500" dirty="0"/>
          </a:p>
        </p:txBody>
      </p:sp>
      <p:sp>
        <p:nvSpPr>
          <p:cNvPr id="23" name="Text 17"/>
          <p:cNvSpPr/>
          <p:nvPr/>
        </p:nvSpPr>
        <p:spPr>
          <a:xfrm>
            <a:off x="6492240" y="5074920"/>
            <a:ext cx="4846320" cy="68580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実テーブルの列構成を読み込み、ALTER TABLE 文を生成</a:t>
            </a:r>
            <a:endParaRPr lang="en-US" sz="1200" dirty="0"/>
          </a:p>
        </p:txBody>
      </p:sp>
      <p:sp>
        <p:nvSpPr>
          <p:cNvPr id="25" name="Text 18"/>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SECURITY</a:t>
            </a:r>
            <a:endParaRPr lang="en-US" sz="1300" dirty="0"/>
          </a:p>
        </p:txBody>
      </p:sp>
      <p:sp>
        <p:nvSpPr>
          <p:cNvPr id="3" name="Text 1"/>
          <p:cNvSpPr/>
          <p:nvPr/>
        </p:nvSpPr>
        <p:spPr>
          <a:xfrm>
            <a:off x="548640" y="685800"/>
            <a:ext cx="10058400" cy="73152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接続情報はファイル全体を暗号化</a:t>
            </a:r>
            <a:endParaRPr lang="en-US" sz="3000" dirty="0"/>
          </a:p>
        </p:txBody>
      </p:sp>
      <p:sp>
        <p:nvSpPr>
          <p:cNvPr id="4" name="Shape 2"/>
          <p:cNvSpPr/>
          <p:nvPr/>
        </p:nvSpPr>
        <p:spPr>
          <a:xfrm>
            <a:off x="777240" y="1965960"/>
            <a:ext cx="1005840" cy="100584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907999" y="2096719"/>
            <a:ext cx="744322" cy="744322"/>
          </a:xfrm>
          <a:prstGeom prst="rect">
            <a:avLst/>
          </a:prstGeom>
        </p:spPr>
      </p:pic>
      <p:sp>
        <p:nvSpPr>
          <p:cNvPr id="6" name="Text 3"/>
          <p:cNvSpPr/>
          <p:nvPr/>
        </p:nvSpPr>
        <p:spPr>
          <a:xfrm>
            <a:off x="2011680" y="1874520"/>
            <a:ext cx="9052560" cy="1280160"/>
          </a:xfrm>
          <a:prstGeom prst="rect">
            <a:avLst/>
          </a:prstGeom>
          <a:noFill/>
          <a:ln/>
        </p:spPr>
        <p:txBody>
          <a:bodyPr wrap="square" rtlCol="0" anchor="ctr"/>
          <a:lstStyle/>
          <a:p>
            <a:pPr indent="0" marL="0">
              <a:lnSpc>
                <a:spcPct val="130000"/>
              </a:lnSpc>
              <a:buNone/>
            </a:pPr>
            <a:r>
              <a:rPr lang="en-US" sz="1500" dirty="0">
                <a:solidFill>
                  <a:srgbClr val="20264A"/>
                </a:solidFill>
                <a:latin typeface="Calibri" pitchFamily="34" charset="0"/>
                <a:ea typeface="Calibri" pitchFamily="34" charset="-122"/>
                <a:cs typeface="Calibri" pitchFamily="34" charset="-120"/>
              </a:rPr>
              <a:t>プロジェクトファイル（.neodb）・クエリ履歴・SQLスニペットは、すべて Windows DPAPI（現在のユーザー限定）でファイル全体を暗号化して保存します。フィールド単位の暗号化ではなく、ファイルまるごとです。</a:t>
            </a:r>
            <a:endParaRPr lang="en-US" sz="1500" dirty="0"/>
          </a:p>
        </p:txBody>
      </p:sp>
      <p:sp>
        <p:nvSpPr>
          <p:cNvPr id="7" name="Shape 4"/>
          <p:cNvSpPr/>
          <p:nvPr/>
        </p:nvSpPr>
        <p:spPr>
          <a:xfrm>
            <a:off x="777240" y="3520440"/>
            <a:ext cx="10607040" cy="777240"/>
          </a:xfrm>
          <a:prstGeom prst="rect">
            <a:avLst/>
          </a:prstGeom>
          <a:solidFill>
            <a:srgbClr val="F4F7FF"/>
          </a:solidFill>
          <a:ln/>
        </p:spPr>
      </p:sp>
      <p:sp>
        <p:nvSpPr>
          <p:cNvPr id="8" name="Text 5"/>
          <p:cNvSpPr/>
          <p:nvPr/>
        </p:nvSpPr>
        <p:spPr>
          <a:xfrm>
            <a:off x="1005840" y="3520440"/>
            <a:ext cx="374904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別マシンにコピー</a:t>
            </a:r>
            <a:endParaRPr lang="en-US" sz="1350" dirty="0"/>
          </a:p>
        </p:txBody>
      </p:sp>
      <p:sp>
        <p:nvSpPr>
          <p:cNvPr id="9" name="Text 6"/>
          <p:cNvSpPr/>
          <p:nvPr/>
        </p:nvSpPr>
        <p:spPr>
          <a:xfrm>
            <a:off x="4846320" y="3520440"/>
            <a:ext cx="6400800" cy="777240"/>
          </a:xfrm>
          <a:prstGeom prst="rect">
            <a:avLst/>
          </a:prstGeom>
          <a:noFill/>
          <a:ln/>
        </p:spPr>
        <p:txBody>
          <a:bodyPr wrap="square" rtlCol="0" anchor="ctr"/>
          <a:lstStyle/>
          <a:p>
            <a:pPr indent="0" marL="0">
              <a:buNone/>
            </a:pPr>
            <a:r>
              <a:rPr lang="en-US" sz="1300" dirty="0">
                <a:solidFill>
                  <a:srgbClr val="5B6480"/>
                </a:solidFill>
                <a:latin typeface="Calibri" pitchFamily="34" charset="0"/>
                <a:ea typeface="Calibri" pitchFamily="34" charset="-122"/>
                <a:cs typeface="Calibri" pitchFamily="34" charset="-120"/>
              </a:rPr>
              <a:t>復号できない（DPAPIはユーザー鍵に紐づく）</a:t>
            </a:r>
            <a:endParaRPr lang="en-US" sz="1300" dirty="0"/>
          </a:p>
        </p:txBody>
      </p:sp>
      <p:sp>
        <p:nvSpPr>
          <p:cNvPr id="10" name="Shape 7"/>
          <p:cNvSpPr/>
          <p:nvPr/>
        </p:nvSpPr>
        <p:spPr>
          <a:xfrm>
            <a:off x="777240" y="4434840"/>
            <a:ext cx="10607040" cy="777240"/>
          </a:xfrm>
          <a:prstGeom prst="rect">
            <a:avLst/>
          </a:prstGeom>
          <a:solidFill>
            <a:srgbClr val="F4F7FF"/>
          </a:solidFill>
          <a:ln/>
        </p:spPr>
      </p:sp>
      <p:sp>
        <p:nvSpPr>
          <p:cNvPr id="11" name="Text 8"/>
          <p:cNvSpPr/>
          <p:nvPr/>
        </p:nvSpPr>
        <p:spPr>
          <a:xfrm>
            <a:off x="1005840" y="4434840"/>
            <a:ext cx="374904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ファイルをのぞき見</a:t>
            </a:r>
            <a:endParaRPr lang="en-US" sz="1350" dirty="0"/>
          </a:p>
        </p:txBody>
      </p:sp>
      <p:sp>
        <p:nvSpPr>
          <p:cNvPr id="12" name="Text 9"/>
          <p:cNvSpPr/>
          <p:nvPr/>
        </p:nvSpPr>
        <p:spPr>
          <a:xfrm>
            <a:off x="4846320" y="4434840"/>
            <a:ext cx="6400800" cy="777240"/>
          </a:xfrm>
          <a:prstGeom prst="rect">
            <a:avLst/>
          </a:prstGeom>
          <a:noFill/>
          <a:ln/>
        </p:spPr>
        <p:txBody>
          <a:bodyPr wrap="square" rtlCol="0" anchor="ctr"/>
          <a:lstStyle/>
          <a:p>
            <a:pPr indent="0" marL="0">
              <a:buNone/>
            </a:pPr>
            <a:r>
              <a:rPr lang="en-US" sz="1300" dirty="0">
                <a:solidFill>
                  <a:srgbClr val="5B6480"/>
                </a:solidFill>
                <a:latin typeface="Calibri" pitchFamily="34" charset="0"/>
                <a:ea typeface="Calibri" pitchFamily="34" charset="-122"/>
                <a:cs typeface="Calibri" pitchFamily="34" charset="-120"/>
              </a:rPr>
              <a:t>先頭が暗号化コンテナのマーカーのみ。中身は読めない</a:t>
            </a:r>
            <a:endParaRPr lang="en-US" sz="1300" dirty="0"/>
          </a:p>
        </p:txBody>
      </p:sp>
      <p:sp>
        <p:nvSpPr>
          <p:cNvPr id="13" name="Shape 10"/>
          <p:cNvSpPr/>
          <p:nvPr/>
        </p:nvSpPr>
        <p:spPr>
          <a:xfrm>
            <a:off x="777240" y="5349240"/>
            <a:ext cx="10607040" cy="777240"/>
          </a:xfrm>
          <a:prstGeom prst="rect">
            <a:avLst/>
          </a:prstGeom>
          <a:solidFill>
            <a:srgbClr val="F4F7FF"/>
          </a:solidFill>
          <a:ln/>
        </p:spPr>
      </p:sp>
      <p:sp>
        <p:nvSpPr>
          <p:cNvPr id="14" name="Text 11"/>
          <p:cNvSpPr/>
          <p:nvPr/>
        </p:nvSpPr>
        <p:spPr>
          <a:xfrm>
            <a:off x="1005840" y="5349240"/>
            <a:ext cx="374904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旧形式ファイル</a:t>
            </a:r>
            <a:endParaRPr lang="en-US" sz="1350" dirty="0"/>
          </a:p>
        </p:txBody>
      </p:sp>
      <p:sp>
        <p:nvSpPr>
          <p:cNvPr id="15" name="Text 12"/>
          <p:cNvSpPr/>
          <p:nvPr/>
        </p:nvSpPr>
        <p:spPr>
          <a:xfrm>
            <a:off x="4846320" y="5349240"/>
            <a:ext cx="6400800" cy="777240"/>
          </a:xfrm>
          <a:prstGeom prst="rect">
            <a:avLst/>
          </a:prstGeom>
          <a:noFill/>
          <a:ln/>
        </p:spPr>
        <p:txBody>
          <a:bodyPr wrap="square" rtlCol="0" anchor="ctr"/>
          <a:lstStyle/>
          <a:p>
            <a:pPr indent="0" marL="0">
              <a:buNone/>
            </a:pPr>
            <a:r>
              <a:rPr lang="en-US" sz="1300" dirty="0">
                <a:solidFill>
                  <a:srgbClr val="5B6480"/>
                </a:solidFill>
                <a:latin typeface="Calibri" pitchFamily="34" charset="0"/>
                <a:ea typeface="Calibri" pitchFamily="34" charset="-122"/>
                <a:cs typeface="Calibri" pitchFamily="34" charset="-120"/>
              </a:rPr>
              <a:t>後方互換の読み込みパスあり。読めるが保存時は新形式へ移行</a:t>
            </a:r>
            <a:endParaRPr lang="en-US" sz="1300" dirty="0"/>
          </a:p>
        </p:txBody>
      </p:sp>
      <p:sp>
        <p:nvSpPr>
          <p:cNvPr id="17" name="Text 13"/>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TRY IT YOURSELF</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Dockerサンドボックスで、すぐに試せる</a:t>
            </a:r>
            <a:endParaRPr lang="en-US" sz="2800" dirty="0"/>
          </a:p>
        </p:txBody>
      </p:sp>
      <p:sp>
        <p:nvSpPr>
          <p:cNvPr id="4" name="Shape 2"/>
          <p:cNvSpPr/>
          <p:nvPr/>
        </p:nvSpPr>
        <p:spPr>
          <a:xfrm>
            <a:off x="548640" y="1874520"/>
            <a:ext cx="914400" cy="91440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67512" y="1993392"/>
            <a:ext cx="676656" cy="676656"/>
          </a:xfrm>
          <a:prstGeom prst="rect">
            <a:avLst/>
          </a:prstGeom>
        </p:spPr>
      </p:pic>
      <p:sp>
        <p:nvSpPr>
          <p:cNvPr id="6" name="Text 3"/>
          <p:cNvSpPr/>
          <p:nvPr/>
        </p:nvSpPr>
        <p:spPr>
          <a:xfrm>
            <a:off x="1691640" y="1965960"/>
            <a:ext cx="7315200" cy="457200"/>
          </a:xfrm>
          <a:prstGeom prst="rect">
            <a:avLst/>
          </a:prstGeom>
          <a:noFill/>
          <a:ln/>
        </p:spPr>
        <p:txBody>
          <a:bodyPr wrap="square" rtlCol="0" anchor="ctr"/>
          <a:lstStyle/>
          <a:p>
            <a:pPr indent="0" marL="0">
              <a:buNone/>
            </a:pPr>
            <a:r>
              <a:rPr lang="en-US" sz="1800" b="1" dirty="0">
                <a:solidFill>
                  <a:srgbClr val="1E2761"/>
                </a:solidFill>
                <a:latin typeface="Consolas" pitchFamily="34" charset="0"/>
                <a:ea typeface="Consolas" pitchFamily="34" charset="-122"/>
                <a:cs typeface="Consolas" pitchFamily="34" charset="-120"/>
              </a:rPr>
              <a:t>docker compose up -d</a:t>
            </a:r>
            <a:endParaRPr lang="en-US" sz="1800" dirty="0"/>
          </a:p>
        </p:txBody>
      </p:sp>
      <p:sp>
        <p:nvSpPr>
          <p:cNvPr id="7" name="Text 4"/>
          <p:cNvSpPr/>
          <p:nvPr/>
        </p:nvSpPr>
        <p:spPr>
          <a:xfrm>
            <a:off x="1691640" y="2423160"/>
            <a:ext cx="8686800" cy="457200"/>
          </a:xfrm>
          <a:prstGeom prst="rect">
            <a:avLst/>
          </a:prstGeom>
          <a:noFill/>
          <a:ln/>
        </p:spPr>
        <p:txBody>
          <a:bodyPr wrap="square" rtlCol="0" anchor="ctr"/>
          <a:lstStyle/>
          <a:p>
            <a:pPr indent="0" marL="0">
              <a:buNone/>
            </a:pPr>
            <a:r>
              <a:rPr lang="en-US" sz="1350" dirty="0">
                <a:solidFill>
                  <a:srgbClr val="5B6480"/>
                </a:solidFill>
                <a:latin typeface="Calibri" pitchFamily="34" charset="0"/>
                <a:ea typeface="Calibri" pitchFamily="34" charset="-122"/>
                <a:cs typeface="Calibri" pitchFamily="34" charset="-120"/>
              </a:rPr>
              <a:t>これだけで、8種類のDBMS全部にサンプルデータ入りで接続できる環境が立ち上がります。</a:t>
            </a:r>
            <a:endParaRPr lang="en-US" sz="1350" dirty="0"/>
          </a:p>
        </p:txBody>
      </p:sp>
      <p:sp>
        <p:nvSpPr>
          <p:cNvPr id="8" name="Shape 5"/>
          <p:cNvSpPr/>
          <p:nvPr/>
        </p:nvSpPr>
        <p:spPr>
          <a:xfrm>
            <a:off x="548640" y="3063240"/>
            <a:ext cx="11064240" cy="3200400"/>
          </a:xfrm>
          <a:prstGeom prst="rect">
            <a:avLst/>
          </a:prstGeom>
          <a:solidFill>
            <a:srgbClr val="141B47"/>
          </a:solidFill>
          <a:ln/>
        </p:spPr>
      </p:sp>
      <p:sp>
        <p:nvSpPr>
          <p:cNvPr id="9" name="Text 6"/>
          <p:cNvSpPr/>
          <p:nvPr/>
        </p:nvSpPr>
        <p:spPr>
          <a:xfrm>
            <a:off x="914400" y="3337560"/>
            <a:ext cx="10332720" cy="50292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8種類のDBMSコンテナ（+ Cassandra / ClickHouse も同梱）</a:t>
            </a:r>
            <a:endParaRPr lang="en-US" sz="1450" dirty="0"/>
          </a:p>
        </p:txBody>
      </p:sp>
      <p:sp>
        <p:nvSpPr>
          <p:cNvPr id="10" name="Text 7"/>
          <p:cNvSpPr/>
          <p:nvPr/>
        </p:nvSpPr>
        <p:spPr>
          <a:xfrm>
            <a:off x="914400" y="3904488"/>
            <a:ext cx="10332720" cy="50292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バイリンガル（日本語・英語）のシードデータを事前投入</a:t>
            </a:r>
            <a:endParaRPr lang="en-US" sz="1450" dirty="0"/>
          </a:p>
        </p:txBody>
      </p:sp>
      <p:sp>
        <p:nvSpPr>
          <p:cNvPr id="11" name="Text 8"/>
          <p:cNvSpPr/>
          <p:nvPr/>
        </p:nvSpPr>
        <p:spPr>
          <a:xfrm>
            <a:off x="914400" y="4471416"/>
            <a:ext cx="10332720" cy="50292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接続プロファイル（.neodb）は Projects/DBMS_Samples/ に同梱</a:t>
            </a:r>
            <a:endParaRPr lang="en-US" sz="1450" dirty="0"/>
          </a:p>
        </p:txBody>
      </p:sp>
      <p:sp>
        <p:nvSpPr>
          <p:cNvPr id="12" name="Text 9"/>
          <p:cNvSpPr/>
          <p:nvPr/>
        </p:nvSpPr>
        <p:spPr>
          <a:xfrm>
            <a:off x="914400" y="5038344"/>
            <a:ext cx="10332720" cy="50292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サンプルSQLスクリプト61本（DDL・SEED・SELECT/UPDATE/DELETE・ストアド）</a:t>
            </a:r>
            <a:endParaRPr lang="en-US" sz="1450" dirty="0"/>
          </a:p>
        </p:txBody>
      </p:sp>
      <p:sp>
        <p:nvSpPr>
          <p:cNvPr id="13" name="Text 10"/>
          <p:cNvSpPr/>
          <p:nvPr/>
        </p:nvSpPr>
        <p:spPr>
          <a:xfrm>
            <a:off x="914400" y="5605272"/>
            <a:ext cx="10332720" cy="50292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各DBMSの一次記法の違いも README にまとめて記載</a:t>
            </a:r>
            <a:endParaRPr lang="en-US" sz="1450" dirty="0"/>
          </a:p>
        </p:txBody>
      </p:sp>
      <p:sp>
        <p:nvSpPr>
          <p:cNvPr id="15" name="Text 11"/>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0" y="4114800"/>
            <a:ext cx="5486400" cy="5486400"/>
          </a:xfrm>
          <a:prstGeom prst="ellipse">
            <a:avLst/>
          </a:prstGeom>
          <a:solidFill>
            <a:srgbClr val="141B47"/>
          </a:solidFill>
          <a:ln/>
        </p:spPr>
      </p:sp>
      <p:sp>
        <p:nvSpPr>
          <p:cNvPr id="3" name="Text 1"/>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BONUS LIBRARY</a:t>
            </a:r>
            <a:endParaRPr lang="en-US" sz="1300" dirty="0"/>
          </a:p>
        </p:txBody>
      </p:sp>
      <p:sp>
        <p:nvSpPr>
          <p:cNvPr id="4" name="Shape 2"/>
          <p:cNvSpPr/>
          <p:nvPr/>
        </p:nvSpPr>
        <p:spPr>
          <a:xfrm>
            <a:off x="548640" y="1051560"/>
            <a:ext cx="868680" cy="868680"/>
          </a:xfrm>
          <a:prstGeom prst="ellipse">
            <a:avLst/>
          </a:prstGeom>
          <a:solidFill>
            <a:srgbClr val="CADCFC"/>
          </a:solidFill>
          <a:ln/>
        </p:spPr>
      </p:sp>
      <p:pic>
        <p:nvPicPr>
          <p:cNvPr id="5" name="Image 0" descr="preencoded.png">    </p:cNvPr>
          <p:cNvPicPr>
            <a:picLocks noChangeAspect="1"/>
          </p:cNvPicPr>
          <p:nvPr/>
        </p:nvPicPr>
        <p:blipFill>
          <a:blip r:embed="rId1"/>
          <a:stretch>
            <a:fillRect/>
          </a:stretch>
        </p:blipFill>
        <p:spPr>
          <a:xfrm>
            <a:off x="661568" y="1164488"/>
            <a:ext cx="642823" cy="642823"/>
          </a:xfrm>
          <a:prstGeom prst="rect">
            <a:avLst/>
          </a:prstGeom>
        </p:spPr>
      </p:pic>
      <p:sp>
        <p:nvSpPr>
          <p:cNvPr id="6" name="Text 3"/>
          <p:cNvSpPr/>
          <p:nvPr/>
        </p:nvSpPr>
        <p:spPr>
          <a:xfrm>
            <a:off x="1600200" y="1051560"/>
            <a:ext cx="7315200" cy="8686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UndoRedoKit</a:t>
            </a:r>
            <a:endParaRPr lang="en-US" sz="3600" dirty="0"/>
          </a:p>
        </p:txBody>
      </p:sp>
      <p:sp>
        <p:nvSpPr>
          <p:cNvPr id="7" name="Text 4"/>
          <p:cNvSpPr/>
          <p:nvPr/>
        </p:nvSpPr>
        <p:spPr>
          <a:xfrm>
            <a:off x="594360" y="2057400"/>
            <a:ext cx="105156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データモデル駆動の Undo/Redo・Copy/Cut/Paste 汎用ライブラリ（.NET）</a:t>
            </a:r>
            <a:endParaRPr lang="en-US" sz="1600" dirty="0"/>
          </a:p>
        </p:txBody>
      </p:sp>
      <p:sp>
        <p:nvSpPr>
          <p:cNvPr id="8" name="Text 5"/>
          <p:cNvSpPr/>
          <p:nvPr/>
        </p:nvSpPr>
        <p:spPr>
          <a:xfrm>
            <a:off x="594360" y="2834640"/>
            <a:ext cx="10607040" cy="1463040"/>
          </a:xfrm>
          <a:prstGeom prst="rect">
            <a:avLst/>
          </a:prstGeom>
          <a:noFill/>
          <a:ln/>
        </p:spPr>
        <p:txBody>
          <a:bodyPr wrap="square" rtlCol="0" anchor="ctr"/>
          <a:lstStyle/>
          <a:p>
            <a:pPr indent="0" marL="0">
              <a:lnSpc>
                <a:spcPct val="135000"/>
              </a:lnSpc>
              <a:buNone/>
            </a:pPr>
            <a:r>
              <a:rPr lang="en-US" sz="1500" dirty="0">
                <a:solidFill>
                  <a:srgbClr val="FFFFFF"/>
                </a:solidFill>
                <a:latin typeface="Calibri" pitchFamily="34" charset="0"/>
                <a:ea typeface="Calibri" pitchFamily="34" charset="-122"/>
                <a:cs typeface="Calibri" pitchFamily="34" charset="-120"/>
              </a:rPr>
              <a:t>NeoDB Studio の ER図編集で Undo/Redo を実装しようとしたとき、既存のライブラリがどれも「UIコンポーネントに強く依存」していて、gRPC越しのデータモデルとは相性が悪いことに気づきました。そこで、UIに一切依存しない、モデルオブジェクト単体で完結する Undo/Redo エンジンを、別ライブラリとして切り出して作りました。</a:t>
            </a:r>
            <a:endParaRPr lang="en-US" sz="1500" dirty="0"/>
          </a:p>
        </p:txBody>
      </p:sp>
      <p:sp>
        <p:nvSpPr>
          <p:cNvPr id="9" name="Shape 6"/>
          <p:cNvSpPr/>
          <p:nvPr/>
        </p:nvSpPr>
        <p:spPr>
          <a:xfrm>
            <a:off x="594360" y="4709160"/>
            <a:ext cx="1517904" cy="502920"/>
          </a:xfrm>
          <a:prstGeom prst="roundRect">
            <a:avLst>
              <a:gd name="adj" fmla="val 21818"/>
            </a:avLst>
          </a:prstGeom>
          <a:solidFill>
            <a:srgbClr val="2C3680"/>
          </a:solidFill>
          <a:ln/>
        </p:spPr>
      </p:sp>
      <p:sp>
        <p:nvSpPr>
          <p:cNvPr id="10" name="Text 7"/>
          <p:cNvSpPr/>
          <p:nvPr/>
        </p:nvSpPr>
        <p:spPr>
          <a:xfrm>
            <a:off x="594360" y="4709160"/>
            <a:ext cx="1517904" cy="50292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中核はUI非依存</a:t>
            </a:r>
            <a:endParaRPr lang="en-US" sz="1250" dirty="0"/>
          </a:p>
        </p:txBody>
      </p:sp>
      <p:sp>
        <p:nvSpPr>
          <p:cNvPr id="11" name="Shape 8"/>
          <p:cNvSpPr/>
          <p:nvPr/>
        </p:nvSpPr>
        <p:spPr>
          <a:xfrm>
            <a:off x="2313432" y="4709160"/>
            <a:ext cx="1659636" cy="502920"/>
          </a:xfrm>
          <a:prstGeom prst="roundRect">
            <a:avLst>
              <a:gd name="adj" fmla="val 21818"/>
            </a:avLst>
          </a:prstGeom>
          <a:solidFill>
            <a:srgbClr val="2C3680"/>
          </a:solidFill>
          <a:ln/>
        </p:spPr>
      </p:sp>
      <p:sp>
        <p:nvSpPr>
          <p:cNvPr id="12" name="Text 9"/>
          <p:cNvSpPr/>
          <p:nvPr/>
        </p:nvSpPr>
        <p:spPr>
          <a:xfrm>
            <a:off x="2313432" y="4709160"/>
            <a:ext cx="1659636" cy="50292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WPFアダプタ同梱</a:t>
            </a:r>
            <a:endParaRPr lang="en-US" sz="1250" dirty="0"/>
          </a:p>
        </p:txBody>
      </p:sp>
      <p:sp>
        <p:nvSpPr>
          <p:cNvPr id="13" name="Shape 10"/>
          <p:cNvSpPr/>
          <p:nvPr/>
        </p:nvSpPr>
        <p:spPr>
          <a:xfrm>
            <a:off x="4174236" y="4709160"/>
            <a:ext cx="2368296" cy="502920"/>
          </a:xfrm>
          <a:prstGeom prst="roundRect">
            <a:avLst>
              <a:gd name="adj" fmla="val 21818"/>
            </a:avLst>
          </a:prstGeom>
          <a:solidFill>
            <a:srgbClr val="2C3680"/>
          </a:solidFill>
          <a:ln/>
        </p:spPr>
      </p:sp>
      <p:sp>
        <p:nvSpPr>
          <p:cNvPr id="14" name="Text 11"/>
          <p:cNvSpPr/>
          <p:nvPr/>
        </p:nvSpPr>
        <p:spPr>
          <a:xfrm>
            <a:off x="4174236" y="4709160"/>
            <a:ext cx="2368296" cy="50292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WinFormsアダプタ同梱</a:t>
            </a:r>
            <a:endParaRPr lang="en-US" sz="1250" dirty="0"/>
          </a:p>
        </p:txBody>
      </p:sp>
      <p:sp>
        <p:nvSpPr>
          <p:cNvPr id="15" name="Shape 12"/>
          <p:cNvSpPr/>
          <p:nvPr/>
        </p:nvSpPr>
        <p:spPr>
          <a:xfrm>
            <a:off x="6743700" y="4709160"/>
            <a:ext cx="950976" cy="502920"/>
          </a:xfrm>
          <a:prstGeom prst="roundRect">
            <a:avLst>
              <a:gd name="adj" fmla="val 21818"/>
            </a:avLst>
          </a:prstGeom>
          <a:solidFill>
            <a:srgbClr val="2C3680"/>
          </a:solidFill>
          <a:ln/>
        </p:spPr>
      </p:sp>
      <p:sp>
        <p:nvSpPr>
          <p:cNvPr id="16" name="Text 13"/>
          <p:cNvSpPr/>
          <p:nvPr/>
        </p:nvSpPr>
        <p:spPr>
          <a:xfrm>
            <a:off x="6743700" y="4709160"/>
            <a:ext cx="950976" cy="50292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DI対応</a:t>
            </a:r>
            <a:endParaRPr lang="en-US" sz="1250" dirty="0"/>
          </a:p>
        </p:txBody>
      </p:sp>
      <p:sp>
        <p:nvSpPr>
          <p:cNvPr id="17" name="Shape 14"/>
          <p:cNvSpPr/>
          <p:nvPr/>
        </p:nvSpPr>
        <p:spPr>
          <a:xfrm>
            <a:off x="7895844" y="4709160"/>
            <a:ext cx="1943100" cy="502920"/>
          </a:xfrm>
          <a:prstGeom prst="roundRect">
            <a:avLst>
              <a:gd name="adj" fmla="val 21818"/>
            </a:avLst>
          </a:prstGeom>
          <a:solidFill>
            <a:srgbClr val="2C3680"/>
          </a:solidFill>
          <a:ln/>
        </p:spPr>
      </p:sp>
      <p:sp>
        <p:nvSpPr>
          <p:cNvPr id="18" name="Text 15"/>
          <p:cNvSpPr/>
          <p:nvPr/>
        </p:nvSpPr>
        <p:spPr>
          <a:xfrm>
            <a:off x="7895844" y="4709160"/>
            <a:ext cx="1943100" cy="50292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xUnitテスト15件</a:t>
            </a:r>
            <a:endParaRPr lang="en-US" sz="1250" dirty="0"/>
          </a:p>
        </p:txBody>
      </p:sp>
      <p:sp>
        <p:nvSpPr>
          <p:cNvPr id="20" name="Text 16"/>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685800"/>
            <a:ext cx="9601200" cy="73152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UndoRedoKit の使い方イメージ</a:t>
            </a:r>
            <a:endParaRPr lang="en-US" sz="3000" dirty="0"/>
          </a:p>
        </p:txBody>
      </p:sp>
      <p:sp>
        <p:nvSpPr>
          <p:cNvPr id="4" name="Shape 2"/>
          <p:cNvSpPr/>
          <p:nvPr/>
        </p:nvSpPr>
        <p:spPr>
          <a:xfrm>
            <a:off x="548640" y="1920240"/>
            <a:ext cx="594360" cy="594360"/>
          </a:xfrm>
          <a:prstGeom prst="ellipse">
            <a:avLst/>
          </a:prstGeom>
          <a:solidFill>
            <a:srgbClr val="1E2761"/>
          </a:solidFill>
          <a:ln/>
        </p:spPr>
      </p:sp>
      <p:sp>
        <p:nvSpPr>
          <p:cNvPr id="5" name="Text 3"/>
          <p:cNvSpPr/>
          <p:nvPr/>
        </p:nvSpPr>
        <p:spPr>
          <a:xfrm>
            <a:off x="548640" y="192024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25880" y="1901952"/>
            <a:ext cx="3931920" cy="3200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ModelObject を継承</a:t>
            </a:r>
            <a:endParaRPr lang="en-US" sz="1450" dirty="0"/>
          </a:p>
        </p:txBody>
      </p:sp>
      <p:sp>
        <p:nvSpPr>
          <p:cNvPr id="7" name="Text 5"/>
          <p:cNvSpPr/>
          <p:nvPr/>
        </p:nvSpPr>
        <p:spPr>
          <a:xfrm>
            <a:off x="1325880" y="2212848"/>
            <a:ext cx="9784080" cy="502920"/>
          </a:xfrm>
          <a:prstGeom prst="rect">
            <a:avLst/>
          </a:prstGeom>
          <a:noFill/>
          <a:ln/>
        </p:spPr>
        <p:txBody>
          <a:bodyPr wrap="square" rtlCol="0" anchor="ctr"/>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編集したいクラスに継承させ、プロパティを SetValue() 経由で変更</a:t>
            </a:r>
            <a:endParaRPr lang="en-US" sz="1250" dirty="0"/>
          </a:p>
        </p:txBody>
      </p:sp>
      <p:sp>
        <p:nvSpPr>
          <p:cNvPr id="8" name="Shape 6"/>
          <p:cNvSpPr/>
          <p:nvPr/>
        </p:nvSpPr>
        <p:spPr>
          <a:xfrm>
            <a:off x="845820" y="2514600"/>
            <a:ext cx="0" cy="457200"/>
          </a:xfrm>
          <a:prstGeom prst="line">
            <a:avLst/>
          </a:prstGeom>
          <a:noFill/>
          <a:ln w="25400">
            <a:solidFill>
              <a:srgbClr val="CADCFC"/>
            </a:solidFill>
            <a:prstDash val="solid"/>
          </a:ln>
        </p:spPr>
      </p:sp>
      <p:sp>
        <p:nvSpPr>
          <p:cNvPr id="9" name="Shape 7"/>
          <p:cNvSpPr/>
          <p:nvPr/>
        </p:nvSpPr>
        <p:spPr>
          <a:xfrm>
            <a:off x="548640" y="2971800"/>
            <a:ext cx="594360" cy="594360"/>
          </a:xfrm>
          <a:prstGeom prst="ellipse">
            <a:avLst/>
          </a:prstGeom>
          <a:solidFill>
            <a:srgbClr val="1E2761"/>
          </a:solidFill>
          <a:ln/>
        </p:spPr>
      </p:sp>
      <p:sp>
        <p:nvSpPr>
          <p:cNvPr id="10" name="Text 8"/>
          <p:cNvSpPr/>
          <p:nvPr/>
        </p:nvSpPr>
        <p:spPr>
          <a:xfrm>
            <a:off x="548640" y="297180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25880" y="2953512"/>
            <a:ext cx="3931920" cy="3200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EditContext に登録</a:t>
            </a:r>
            <a:endParaRPr lang="en-US" sz="1450" dirty="0"/>
          </a:p>
        </p:txBody>
      </p:sp>
      <p:sp>
        <p:nvSpPr>
          <p:cNvPr id="12" name="Text 10"/>
          <p:cNvSpPr/>
          <p:nvPr/>
        </p:nvSpPr>
        <p:spPr>
          <a:xfrm>
            <a:off x="1325880" y="3264408"/>
            <a:ext cx="9784080" cy="502920"/>
          </a:xfrm>
          <a:prstGeom prst="rect">
            <a:avLst/>
          </a:prstGeom>
          <a:noFill/>
          <a:ln/>
        </p:spPr>
        <p:txBody>
          <a:bodyPr wrap="square" rtlCol="0" anchor="ctr"/>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モデルを EditContext へ Attach。以降の変更が自動的に追跡される</a:t>
            </a:r>
            <a:endParaRPr lang="en-US" sz="1250" dirty="0"/>
          </a:p>
        </p:txBody>
      </p:sp>
      <p:sp>
        <p:nvSpPr>
          <p:cNvPr id="13" name="Shape 11"/>
          <p:cNvSpPr/>
          <p:nvPr/>
        </p:nvSpPr>
        <p:spPr>
          <a:xfrm>
            <a:off x="845820" y="3566160"/>
            <a:ext cx="0" cy="457200"/>
          </a:xfrm>
          <a:prstGeom prst="line">
            <a:avLst/>
          </a:prstGeom>
          <a:noFill/>
          <a:ln w="25400">
            <a:solidFill>
              <a:srgbClr val="CADCFC"/>
            </a:solidFill>
            <a:prstDash val="solid"/>
          </a:ln>
        </p:spPr>
      </p:sp>
      <p:sp>
        <p:nvSpPr>
          <p:cNvPr id="14" name="Shape 12"/>
          <p:cNvSpPr/>
          <p:nvPr/>
        </p:nvSpPr>
        <p:spPr>
          <a:xfrm>
            <a:off x="548640" y="4023360"/>
            <a:ext cx="594360" cy="594360"/>
          </a:xfrm>
          <a:prstGeom prst="ellipse">
            <a:avLst/>
          </a:prstGeom>
          <a:solidFill>
            <a:srgbClr val="1E2761"/>
          </a:solidFill>
          <a:ln/>
        </p:spPr>
      </p:sp>
      <p:sp>
        <p:nvSpPr>
          <p:cNvPr id="15" name="Text 13"/>
          <p:cNvSpPr/>
          <p:nvPr/>
        </p:nvSpPr>
        <p:spPr>
          <a:xfrm>
            <a:off x="548640" y="402336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325880" y="4005072"/>
            <a:ext cx="3931920" cy="3200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UndoManager が記録</a:t>
            </a:r>
            <a:endParaRPr lang="en-US" sz="1450" dirty="0"/>
          </a:p>
        </p:txBody>
      </p:sp>
      <p:sp>
        <p:nvSpPr>
          <p:cNvPr id="17" name="Text 15"/>
          <p:cNvSpPr/>
          <p:nvPr/>
        </p:nvSpPr>
        <p:spPr>
          <a:xfrm>
            <a:off x="1325880" y="4315968"/>
            <a:ext cx="9784080" cy="502920"/>
          </a:xfrm>
          <a:prstGeom prst="rect">
            <a:avLst/>
          </a:prstGeom>
          <a:noFill/>
          <a:ln/>
        </p:spPr>
        <p:txBody>
          <a:bodyPr wrap="square" rtlCol="0" anchor="ctr"/>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変更ごとに差分コマンドを履歴へ。連続入力はジェスチャ単位に融合</a:t>
            </a:r>
            <a:endParaRPr lang="en-US" sz="1250" dirty="0"/>
          </a:p>
        </p:txBody>
      </p:sp>
      <p:sp>
        <p:nvSpPr>
          <p:cNvPr id="18" name="Shape 16"/>
          <p:cNvSpPr/>
          <p:nvPr/>
        </p:nvSpPr>
        <p:spPr>
          <a:xfrm>
            <a:off x="845820" y="4617720"/>
            <a:ext cx="0" cy="457200"/>
          </a:xfrm>
          <a:prstGeom prst="line">
            <a:avLst/>
          </a:prstGeom>
          <a:noFill/>
          <a:ln w="25400">
            <a:solidFill>
              <a:srgbClr val="CADCFC"/>
            </a:solidFill>
            <a:prstDash val="solid"/>
          </a:ln>
        </p:spPr>
      </p:sp>
      <p:sp>
        <p:nvSpPr>
          <p:cNvPr id="19" name="Shape 17"/>
          <p:cNvSpPr/>
          <p:nvPr/>
        </p:nvSpPr>
        <p:spPr>
          <a:xfrm>
            <a:off x="548640" y="5074920"/>
            <a:ext cx="594360" cy="594360"/>
          </a:xfrm>
          <a:prstGeom prst="ellipse">
            <a:avLst/>
          </a:prstGeom>
          <a:solidFill>
            <a:srgbClr val="1E2761"/>
          </a:solidFill>
          <a:ln/>
        </p:spPr>
      </p:sp>
      <p:sp>
        <p:nvSpPr>
          <p:cNvPr id="20" name="Text 18"/>
          <p:cNvSpPr/>
          <p:nvPr/>
        </p:nvSpPr>
        <p:spPr>
          <a:xfrm>
            <a:off x="548640" y="507492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1325880" y="5056632"/>
            <a:ext cx="3931920" cy="3200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Undo / Redo / JumpTo</a:t>
            </a:r>
            <a:endParaRPr lang="en-US" sz="1450" dirty="0"/>
          </a:p>
        </p:txBody>
      </p:sp>
      <p:sp>
        <p:nvSpPr>
          <p:cNvPr id="22" name="Text 20"/>
          <p:cNvSpPr/>
          <p:nvPr/>
        </p:nvSpPr>
        <p:spPr>
          <a:xfrm>
            <a:off x="1325880" y="5367528"/>
            <a:ext cx="9784080" cy="502920"/>
          </a:xfrm>
          <a:prstGeom prst="rect">
            <a:avLst/>
          </a:prstGeom>
          <a:noFill/>
          <a:ln/>
        </p:spPr>
        <p:txBody>
          <a:bodyPr wrap="square" rtlCol="0" anchor="ctr"/>
          <a:lstStyle/>
          <a:p>
            <a:pPr indent="0" marL="0">
              <a:lnSpc>
                <a:spcPct val="120000"/>
              </a:lnSpc>
              <a:buNone/>
            </a:pPr>
            <a:r>
              <a:rPr lang="en-US" sz="1250" dirty="0">
                <a:solidFill>
                  <a:srgbClr val="5B6480"/>
                </a:solidFill>
                <a:latin typeface="Calibri" pitchFamily="34" charset="0"/>
                <a:ea typeface="Calibri" pitchFamily="34" charset="-122"/>
                <a:cs typeface="Calibri" pitchFamily="34" charset="-120"/>
              </a:rPr>
              <a:t>1手戻すだけでなく、履歴の任意の地点まで一気にジャンプも可能</a:t>
            </a:r>
            <a:endParaRPr lang="en-US" sz="1250" dirty="0"/>
          </a:p>
        </p:txBody>
      </p:sp>
      <p:sp>
        <p:nvSpPr>
          <p:cNvPr id="23" name="Text 21"/>
          <p:cNvSpPr/>
          <p:nvPr/>
        </p:nvSpPr>
        <p:spPr>
          <a:xfrm>
            <a:off x="548640" y="6080760"/>
            <a:ext cx="10789920" cy="457200"/>
          </a:xfrm>
          <a:prstGeom prst="rect">
            <a:avLst/>
          </a:prstGeom>
          <a:noFill/>
          <a:ln/>
        </p:spPr>
        <p:txBody>
          <a:bodyPr wrap="square" rtlCol="0" anchor="ctr"/>
          <a:lstStyle/>
          <a:p>
            <a:pPr indent="0" marL="0">
              <a:buNone/>
            </a:pPr>
            <a:r>
              <a:rPr lang="en-US" sz="1250" i="1" dirty="0">
                <a:solidFill>
                  <a:srgbClr val="5B6480"/>
                </a:solidFill>
                <a:latin typeface="Calibri" pitchFamily="34" charset="0"/>
                <a:ea typeface="Calibri" pitchFamily="34" charset="-122"/>
                <a:cs typeface="Calibri" pitchFamily="34" charset="-120"/>
              </a:rPr>
              <a:t>加えて、複数選択・グリッドのセル編集・リストの並べ替え（Move）・一時的な選択状態（履歴に残さない）にも対応。</a:t>
            </a:r>
            <a:endParaRPr lang="en-US" sz="1250" dirty="0"/>
          </a:p>
        </p:txBody>
      </p:sp>
      <p:sp>
        <p:nvSpPr>
          <p:cNvPr id="25" name="Text 22"/>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141B47"/>
          </a:solidFill>
          <a:ln/>
        </p:spPr>
      </p:sp>
      <p:sp>
        <p:nvSpPr>
          <p:cNvPr id="3" name="Shape 1"/>
          <p:cNvSpPr/>
          <p:nvPr/>
        </p:nvSpPr>
        <p:spPr>
          <a:xfrm>
            <a:off x="8686800" y="3657600"/>
            <a:ext cx="5486400" cy="5486400"/>
          </a:xfrm>
          <a:prstGeom prst="ellipse">
            <a:avLst/>
          </a:prstGeom>
          <a:solidFill>
            <a:srgbClr val="141B47"/>
          </a:solidFill>
          <a:ln/>
        </p:spPr>
      </p:sp>
      <p:sp>
        <p:nvSpPr>
          <p:cNvPr id="4" name="Shape 2"/>
          <p:cNvSpPr/>
          <p:nvPr/>
        </p:nvSpPr>
        <p:spPr>
          <a:xfrm>
            <a:off x="822960" y="822960"/>
            <a:ext cx="822960" cy="822960"/>
          </a:xfrm>
          <a:prstGeom prst="ellipse">
            <a:avLst/>
          </a:prstGeom>
          <a:solidFill>
            <a:srgbClr val="CADCFC"/>
          </a:solidFill>
          <a:ln/>
        </p:spPr>
      </p:sp>
      <p:pic>
        <p:nvPicPr>
          <p:cNvPr id="5" name="Image 0" descr="preencoded.png">    </p:cNvPr>
          <p:cNvPicPr>
            <a:picLocks noChangeAspect="1"/>
          </p:cNvPicPr>
          <p:nvPr/>
        </p:nvPicPr>
        <p:blipFill>
          <a:blip r:embed="rId1"/>
          <a:stretch>
            <a:fillRect/>
          </a:stretch>
        </p:blipFill>
        <p:spPr>
          <a:xfrm>
            <a:off x="929945" y="929945"/>
            <a:ext cx="608990" cy="608990"/>
          </a:xfrm>
          <a:prstGeom prst="rect">
            <a:avLst/>
          </a:prstGeom>
        </p:spPr>
      </p:pic>
      <p:sp>
        <p:nvSpPr>
          <p:cNvPr id="6" name="Text 3"/>
          <p:cNvSpPr/>
          <p:nvPr/>
        </p:nvSpPr>
        <p:spPr>
          <a:xfrm>
            <a:off x="1828800" y="896112"/>
            <a:ext cx="7315200" cy="457200"/>
          </a:xfrm>
          <a:prstGeom prst="rect">
            <a:avLst/>
          </a:prstGeom>
          <a:noFill/>
          <a:ln/>
        </p:spPr>
        <p:txBody>
          <a:bodyPr wrap="square" rtlCol="0" anchor="ctr"/>
          <a:lstStyle/>
          <a:p>
            <a:pPr indent="0" marL="0">
              <a:buNone/>
            </a:pPr>
            <a:r>
              <a:rPr lang="en-US" sz="1500" b="1" spc="200" kern="0" dirty="0">
                <a:solidFill>
                  <a:srgbClr val="CADCFC"/>
                </a:solidFill>
                <a:latin typeface="Calibri" pitchFamily="34" charset="0"/>
                <a:ea typeface="Calibri" pitchFamily="34" charset="-122"/>
                <a:cs typeface="Calibri" pitchFamily="34" charset="-120"/>
              </a:rPr>
              <a:t>オリオンシステムズ　OrionSystems</a:t>
            </a:r>
            <a:endParaRPr lang="en-US" sz="1500" dirty="0"/>
          </a:p>
        </p:txBody>
      </p:sp>
      <p:sp>
        <p:nvSpPr>
          <p:cNvPr id="7" name="Text 4"/>
          <p:cNvSpPr/>
          <p:nvPr/>
        </p:nvSpPr>
        <p:spPr>
          <a:xfrm>
            <a:off x="822960" y="2148840"/>
            <a:ext cx="10058400" cy="640080"/>
          </a:xfrm>
          <a:prstGeom prst="rect">
            <a:avLst/>
          </a:prstGeom>
          <a:noFill/>
          <a:ln/>
        </p:spPr>
        <p:txBody>
          <a:bodyPr wrap="square" rtlCol="0" anchor="ctr"/>
          <a:lstStyle/>
          <a:p>
            <a:pPr indent="0" marL="0">
              <a:buNone/>
            </a:pPr>
            <a:r>
              <a:rPr lang="en-US" sz="2600" dirty="0">
                <a:solidFill>
                  <a:srgbClr val="FFFFFF"/>
                </a:solidFill>
                <a:latin typeface="Cambria" pitchFamily="34" charset="0"/>
                <a:ea typeface="Cambria" pitchFamily="34" charset="-122"/>
                <a:cs typeface="Cambria" pitchFamily="34" charset="-120"/>
              </a:rPr>
              <a:t>今日から、あなたの環境でも</a:t>
            </a:r>
            <a:endParaRPr lang="en-US" sz="2600" dirty="0"/>
          </a:p>
        </p:txBody>
      </p:sp>
      <p:sp>
        <p:nvSpPr>
          <p:cNvPr id="8" name="Text 5"/>
          <p:cNvSpPr/>
          <p:nvPr/>
        </p:nvSpPr>
        <p:spPr>
          <a:xfrm>
            <a:off x="822960" y="2788920"/>
            <a:ext cx="10058400" cy="640080"/>
          </a:xfrm>
          <a:prstGeom prst="rect">
            <a:avLst/>
          </a:prstGeom>
          <a:noFill/>
          <a:ln/>
        </p:spPr>
        <p:txBody>
          <a:bodyPr wrap="square" rtlCol="0" anchor="ctr"/>
          <a:lstStyle/>
          <a:p>
            <a:pPr indent="0" marL="0">
              <a:buNone/>
            </a:pPr>
            <a:r>
              <a:rPr lang="en-US" sz="2600" b="1" dirty="0">
                <a:solidFill>
                  <a:srgbClr val="CADCFC"/>
                </a:solidFill>
                <a:latin typeface="Cambria" pitchFamily="34" charset="0"/>
                <a:ea typeface="Cambria" pitchFamily="34" charset="-122"/>
                <a:cs typeface="Cambria" pitchFamily="34" charset="-120"/>
              </a:rPr>
              <a:t>両方とも MIT License で、無料で使えます</a:t>
            </a:r>
            <a:endParaRPr lang="en-US" sz="2600" dirty="0"/>
          </a:p>
        </p:txBody>
      </p:sp>
      <p:sp>
        <p:nvSpPr>
          <p:cNvPr id="9" name="Shape 6"/>
          <p:cNvSpPr/>
          <p:nvPr/>
        </p:nvSpPr>
        <p:spPr>
          <a:xfrm>
            <a:off x="822960" y="3886200"/>
            <a:ext cx="7772400" cy="777240"/>
          </a:xfrm>
          <a:prstGeom prst="rect">
            <a:avLst/>
          </a:prstGeom>
          <a:solidFill>
            <a:srgbClr val="2C3680"/>
          </a:solidFill>
          <a:ln/>
        </p:spPr>
      </p:sp>
      <p:sp>
        <p:nvSpPr>
          <p:cNvPr id="10" name="Text 7"/>
          <p:cNvSpPr/>
          <p:nvPr/>
        </p:nvSpPr>
        <p:spPr>
          <a:xfrm>
            <a:off x="1051560" y="3941064"/>
            <a:ext cx="3657600" cy="320040"/>
          </a:xfrm>
          <a:prstGeom prst="rect">
            <a:avLst/>
          </a:prstGeom>
          <a:noFill/>
          <a:ln/>
        </p:spPr>
        <p:txBody>
          <a:bodyPr wrap="square" rtlCol="0" anchor="ctr"/>
          <a:lstStyle/>
          <a:p>
            <a:pPr indent="0" marL="0">
              <a:buNone/>
            </a:pPr>
            <a:r>
              <a:rPr lang="en-US" sz="1200" dirty="0">
                <a:solidFill>
                  <a:srgbClr val="9FB0E8"/>
                </a:solidFill>
                <a:latin typeface="Calibri" pitchFamily="34" charset="0"/>
                <a:ea typeface="Calibri" pitchFamily="34" charset="-122"/>
                <a:cs typeface="Calibri" pitchFamily="34" charset="-120"/>
              </a:rPr>
              <a:t>NeoDB Studio 本体</a:t>
            </a:r>
            <a:endParaRPr lang="en-US" sz="1200" dirty="0"/>
          </a:p>
        </p:txBody>
      </p:sp>
      <p:sp>
        <p:nvSpPr>
          <p:cNvPr id="11" name="Text 8"/>
          <p:cNvSpPr/>
          <p:nvPr/>
        </p:nvSpPr>
        <p:spPr>
          <a:xfrm>
            <a:off x="1051560" y="4215384"/>
            <a:ext cx="7315200" cy="365760"/>
          </a:xfrm>
          <a:prstGeom prst="rect">
            <a:avLst/>
          </a:prstGeom>
          <a:noFill/>
          <a:ln/>
        </p:spPr>
        <p:txBody>
          <a:bodyPr wrap="square"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github.com/orionsystems-jp/NeoDbStudio</a:t>
            </a:r>
            <a:endParaRPr lang="en-US" sz="1500" dirty="0"/>
          </a:p>
        </p:txBody>
      </p:sp>
      <p:sp>
        <p:nvSpPr>
          <p:cNvPr id="12" name="Shape 9"/>
          <p:cNvSpPr/>
          <p:nvPr/>
        </p:nvSpPr>
        <p:spPr>
          <a:xfrm>
            <a:off x="822960" y="4846320"/>
            <a:ext cx="7772400" cy="777240"/>
          </a:xfrm>
          <a:prstGeom prst="rect">
            <a:avLst/>
          </a:prstGeom>
          <a:solidFill>
            <a:srgbClr val="2C3680"/>
          </a:solidFill>
          <a:ln/>
        </p:spPr>
      </p:sp>
      <p:sp>
        <p:nvSpPr>
          <p:cNvPr id="13" name="Text 10"/>
          <p:cNvSpPr/>
          <p:nvPr/>
        </p:nvSpPr>
        <p:spPr>
          <a:xfrm>
            <a:off x="1051560" y="4901184"/>
            <a:ext cx="3657600" cy="320040"/>
          </a:xfrm>
          <a:prstGeom prst="rect">
            <a:avLst/>
          </a:prstGeom>
          <a:noFill/>
          <a:ln/>
        </p:spPr>
        <p:txBody>
          <a:bodyPr wrap="square" rtlCol="0" anchor="ctr"/>
          <a:lstStyle/>
          <a:p>
            <a:pPr indent="0" marL="0">
              <a:buNone/>
            </a:pPr>
            <a:r>
              <a:rPr lang="en-US" sz="1200" dirty="0">
                <a:solidFill>
                  <a:srgbClr val="9FB0E8"/>
                </a:solidFill>
                <a:latin typeface="Calibri" pitchFamily="34" charset="0"/>
                <a:ea typeface="Calibri" pitchFamily="34" charset="-122"/>
                <a:cs typeface="Calibri" pitchFamily="34" charset="-120"/>
              </a:rPr>
              <a:t>UndoRedoKit</a:t>
            </a:r>
            <a:endParaRPr lang="en-US" sz="1200" dirty="0"/>
          </a:p>
        </p:txBody>
      </p:sp>
      <p:sp>
        <p:nvSpPr>
          <p:cNvPr id="14" name="Text 11"/>
          <p:cNvSpPr/>
          <p:nvPr/>
        </p:nvSpPr>
        <p:spPr>
          <a:xfrm>
            <a:off x="1051560" y="5175504"/>
            <a:ext cx="7315200" cy="365760"/>
          </a:xfrm>
          <a:prstGeom prst="rect">
            <a:avLst/>
          </a:prstGeom>
          <a:noFill/>
          <a:ln/>
        </p:spPr>
        <p:txBody>
          <a:bodyPr wrap="square"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github.com/orionsystems-jp/UndoRedoKit</a:t>
            </a:r>
            <a:endParaRPr lang="en-US" sz="1500" dirty="0"/>
          </a:p>
        </p:txBody>
      </p:sp>
      <p:sp>
        <p:nvSpPr>
          <p:cNvPr id="15" name="Text 12"/>
          <p:cNvSpPr/>
          <p:nvPr/>
        </p:nvSpPr>
        <p:spPr>
          <a:xfrm>
            <a:off x="822960" y="5989320"/>
            <a:ext cx="10058400" cy="457200"/>
          </a:xfrm>
          <a:prstGeom prst="rect">
            <a:avLst/>
          </a:prstGeom>
          <a:noFill/>
          <a:ln/>
        </p:spPr>
        <p:txBody>
          <a:bodyPr wrap="square" rtlCol="0" anchor="ctr"/>
          <a:lstStyle/>
          <a:p>
            <a:pPr indent="0" marL="0">
              <a:buNone/>
            </a:pPr>
            <a:r>
              <a:rPr lang="en-US" sz="1400" i="1" dirty="0">
                <a:solidFill>
                  <a:srgbClr val="9FB0E8"/>
                </a:solidFill>
                <a:latin typeface="Calibri" pitchFamily="34" charset="0"/>
                <a:ea typeface="Calibri" pitchFamily="34" charset="-122"/>
                <a:cs typeface="Calibri" pitchFamily="34" charset="-120"/>
              </a:rPr>
              <a:t>Star、Issue、Pull Request、どんな形のフィードバックも歓迎です。</a:t>
            </a:r>
            <a:endParaRPr lang="en-US" sz="1400" dirty="0"/>
          </a:p>
        </p:txBody>
      </p:sp>
      <p:sp>
        <p:nvSpPr>
          <p:cNvPr id="16" name="Text 13"/>
          <p:cNvSpPr/>
          <p:nvPr/>
        </p:nvSpPr>
        <p:spPr>
          <a:xfrm>
            <a:off x="822960" y="6355080"/>
            <a:ext cx="10058400" cy="365760"/>
          </a:xfrm>
          <a:prstGeom prst="rect">
            <a:avLst/>
          </a:prstGeom>
          <a:noFill/>
          <a:ln/>
        </p:spPr>
        <p:txBody>
          <a:bodyPr wrap="square" rtlCol="0" anchor="ctr"/>
          <a:lstStyle/>
          <a:p>
            <a:pPr indent="0" marL="0">
              <a:buNone/>
            </a:pPr>
            <a:r>
              <a:rPr lang="en-US" sz="1300" dirty="0">
                <a:solidFill>
                  <a:srgbClr val="5B6480"/>
                </a:solidFill>
                <a:latin typeface="Calibri" pitchFamily="34" charset="0"/>
                <a:ea typeface="Calibri" pitchFamily="34" charset="-122"/>
                <a:cs typeface="Calibri" pitchFamily="34" charset="-120"/>
              </a:rPr>
              <a:t>最後までご覧いただき、ありがとうございました。</a:t>
            </a:r>
            <a:endParaRPr lang="en-US" sz="1300" dirty="0"/>
          </a:p>
        </p:txBody>
      </p:sp>
      <p:sp>
        <p:nvSpPr>
          <p:cNvPr id="18" name="Text 14"/>
          <p:cNvSpPr/>
          <p:nvPr/>
        </p:nvSpPr>
        <p:spPr>
          <a:xfrm>
            <a:off x="10728655" y="6400800"/>
            <a:ext cx="1097280" cy="274320"/>
          </a:xfrm>
          <a:prstGeom prst="rect">
            <a:avLst/>
          </a:prstGeom>
          <a:noFill/>
          <a:ln/>
        </p:spPr>
        <p:txBody>
          <a:bodyPr wrap="square" rtlCol="0" anchor="ctr"/>
          <a:lstStyle/>
          <a:p>
            <a:pPr algn="r" indent="0" marL="0">
              <a:buNone/>
            </a:pPr>
            <a:r>
              <a:rPr lang="en-US" sz="1000" dirty="0">
                <a:solidFill>
                  <a:srgbClr val="5B6480"/>
                </a:solidFill>
                <a:latin typeface="Calibri" pitchFamily="34" charset="0"/>
                <a:ea typeface="Calibri" pitchFamily="34" charset="-122"/>
                <a:cs typeface="Calibri" pitchFamily="34" charset="-120"/>
              </a:rPr>
              <a:t>18 / 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2026-08-01T01:58:01Z</dcterms:created>
  <dcterms:modified xsi:type="dcterms:W3CDTF">2026-08-01T01:58:01Z</dcterms:modified>
</cp:coreProperties>
</file>